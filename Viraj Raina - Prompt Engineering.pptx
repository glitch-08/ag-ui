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222B6-A232-A6C2-A6EA-785A7790957C}" v="2" dt="2026-05-07T11:21:50.012"/>
    <p1510:client id="{F1A50F55-EB95-4B33-40B2-0BD429ECDE88}" v="2" dt="2026-05-07T09:09:2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AD4F-920C-415A-A0E3-951B8B592E48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10D9F-B28D-4B35-A231-05D3CF5699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2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Use AI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Effectively</a:t>
            </a:r>
            <a:r>
              <a:rPr lang="en-US" sz="5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Basics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8229600" cy="228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Viraj Raina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rial Black"/>
              </a:rPr>
              <a:t>Prompt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0EA5E9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4200">
              <a:latin typeface="Arial Black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258568"/>
            <a:ext cx="2743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359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programming in natural language.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60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→ better outputs, every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ANATOMY: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3401568"/>
            <a:ext cx="777240" cy="3017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0156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89888" y="3401568"/>
            <a:ext cx="96012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389888" y="340156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3401568"/>
            <a:ext cx="1170432" cy="3017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3401568"/>
            <a:ext cx="1170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67328" y="3401568"/>
            <a:ext cx="132588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34015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4920" y="410227"/>
            <a:ext cx="3772526" cy="4389120"/>
          </a:xfrm>
          <a:prstGeom prst="rect">
            <a:avLst/>
          </a:prstGeom>
          <a:solidFill>
            <a:srgbClr val="1E293B"/>
          </a:solidFill>
          <a:ln/>
          <a:effectLst>
            <a:outerShdw blurRad="254000" dist="635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4920" y="410227"/>
            <a:ext cx="3772526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393520" y="547387"/>
            <a:ext cx="3315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Matters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3520" y="940579"/>
            <a:ext cx="3315326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5393520" y="1032019"/>
            <a:ext cx="331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PROMPT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3520" y="1333771"/>
            <a:ext cx="3315326" cy="658368"/>
          </a:xfrm>
          <a:prstGeom prst="rect">
            <a:avLst/>
          </a:prstGeom>
          <a:solidFill>
            <a:srgbClr val="2D1B1B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2392" y="1370347"/>
            <a:ext cx="31141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FCA5A5"/>
                </a:solidFill>
                <a:ea typeface="+mn-lt"/>
                <a:cs typeface="+mn-lt"/>
              </a:rPr>
              <a:t>Can we fly in this weather?</a:t>
            </a:r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93520" y="2101867"/>
            <a:ext cx="3315326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5393520" y="2193307"/>
            <a:ext cx="331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PROMPT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3520" y="2495059"/>
            <a:ext cx="3315326" cy="1828800"/>
          </a:xfrm>
          <a:prstGeom prst="rect">
            <a:avLst/>
          </a:prstGeom>
          <a:solidFill>
            <a:srgbClr val="0A1F14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2392" y="2531635"/>
            <a:ext cx="31141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6EE7B7"/>
                </a:solidFill>
                <a:ea typeface="+mn-lt"/>
                <a:cs typeface="+mn-lt"/>
              </a:rPr>
              <a:t>You are an airline dispatcher. Given a METAR showing 300 OVC, visibility 600m RVR, and wind shear alerts active on final, assess whether this airport meets Cat II minima for an A320 with </a:t>
            </a:r>
            <a:r>
              <a:rPr lang="en-US" sz="1250" dirty="0" err="1">
                <a:solidFill>
                  <a:srgbClr val="6EE7B7"/>
                </a:solidFill>
                <a:ea typeface="+mn-lt"/>
                <a:cs typeface="+mn-lt"/>
              </a:rPr>
              <a:t>autoland</a:t>
            </a:r>
            <a:r>
              <a:rPr lang="en-US" sz="1250" dirty="0">
                <a:solidFill>
                  <a:srgbClr val="6EE7B7"/>
                </a:solidFill>
                <a:ea typeface="+mn-lt"/>
                <a:cs typeface="+mn-lt"/>
              </a:rPr>
              <a:t> capability. Output a go/no-go recommendation with your reasoning.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93520" y="4451875"/>
            <a:ext cx="3315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Anatomy: Task · Context · Constraints · Output Format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554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01–04  ·  THE BUILDING BLOCKS OF AI COMMUNICATION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Foundational Prompting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19933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A5E9"/>
                </a:solidFill>
              </a:rPr>
              <a:t>01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070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2336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2336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instruction with no examples. Works best for clear, simple tasks where the model has strong coverage.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this paragraph to French: [text]"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81728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1097280"/>
            <a:ext cx="54864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8266176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4C7"/>
                </a:solidFill>
              </a:rPr>
              <a:t>02</a:t>
            </a:r>
            <a:endParaRPr lang="en-US" sz="10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28032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Prompting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28032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single example before your request to guide the model on expected style, format, and level of detail.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09744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82896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82896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"Bug report: App crashes on login → Label: Critical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report: Button misaligned → Label: ___"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6032" y="3136392"/>
            <a:ext cx="54864" cy="19933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2"/>
          <p:cNvSpPr/>
          <p:nvPr/>
        </p:nvSpPr>
        <p:spPr>
          <a:xfrm>
            <a:off x="384048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3AED"/>
                </a:solidFill>
              </a:rPr>
              <a:t>03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24612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2336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02336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2–5 examples for pattern learning. Ideal for structured outputs, custom formats, or domain-specific language.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68808" y="4395216"/>
            <a:ext cx="4002024" cy="6385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44855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57200" y="459638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"Positive: Great product! → Sentiment: Positive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Worst ever. → Sentiment: Negative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Neutral: It is okay. → Sentiment: ___"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681728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81728" y="3136392"/>
            <a:ext cx="54864" cy="19933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0"/>
          <p:cNvSpPr/>
          <p:nvPr/>
        </p:nvSpPr>
        <p:spPr>
          <a:xfrm>
            <a:off x="8266176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46E5"/>
                </a:solidFill>
              </a:rPr>
              <a:t>04</a:t>
            </a:r>
            <a:endParaRPr lang="en-US" sz="10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46120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828032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828032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persona to shape tone, vocabulary, and analytical depth across the full response.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809744" y="4471416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82896" y="451713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882896" y="467258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senior cybersecurity analyst. Review this code for vulnerabilities and explain the risks to a non-technical CEO."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554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05–08  ·  MAKE THE MODEL SHOW ITS WORK BEFORE ANSWERING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Reasoning-Based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19933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3AED"/>
                </a:solidFill>
              </a:rPr>
              <a:t>05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070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2336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2336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to reason step by step before answering. Significantly improves accuracy on complex problems.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1E293B"/>
                </a:solidFill>
                <a:ea typeface="+mn-lt"/>
                <a:cs typeface="+mn-lt"/>
              </a:rPr>
              <a:t>If you buy 5 apples and already have 3, and then you eat 2, how many do you </a:t>
            </a: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have?</a:t>
            </a:r>
            <a:r>
              <a:rPr lang="en-US"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"</a:t>
            </a:r>
            <a:endParaRPr lang="en-US" sz="900"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81728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1097280"/>
            <a:ext cx="54864" cy="199339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4"/>
          <p:cNvSpPr/>
          <p:nvPr/>
        </p:nvSpPr>
        <p:spPr>
          <a:xfrm>
            <a:off x="8266176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D28D9"/>
                </a:solidFill>
              </a:rPr>
              <a:t>06</a:t>
            </a:r>
            <a:endParaRPr lang="en-US" sz="10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28032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 Prompting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28032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first identify the broader approach or principles, then apply them. Reduces shallow, reactive answers.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09744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82896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82896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answering, what general principles of negotiation apply here? Now use those to draft my reply."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6032" y="3136392"/>
            <a:ext cx="54864" cy="19933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2"/>
          <p:cNvSpPr/>
          <p:nvPr/>
        </p:nvSpPr>
        <p:spPr>
          <a:xfrm>
            <a:off x="384048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46E5"/>
                </a:solidFill>
              </a:rPr>
              <a:t>07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24612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2336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02336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independent reasoning paths, then select the most consistent answer. Reduces variance.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84048" y="4471416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51713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57200" y="467258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"Solve this 3 different ways, then identify which answer appears most often across your solutions."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681728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81728" y="3136392"/>
            <a:ext cx="54864" cy="199339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5" name="Text 30"/>
          <p:cNvSpPr/>
          <p:nvPr/>
        </p:nvSpPr>
        <p:spPr>
          <a:xfrm>
            <a:off x="8266176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338CA"/>
                </a:solidFill>
              </a:rPr>
              <a:t>08</a:t>
            </a:r>
            <a:endParaRPr lang="en-US" sz="10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46120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828032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  (Advanced)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828032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solution branches simultaneously. Ideal for complex planning tasks requiring parallel reasoning.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824984" y="4326636"/>
            <a:ext cx="3971544" cy="7071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82896" y="440283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898136" y="4550664"/>
            <a:ext cx="382676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Imagine three different experts brainstorming a plot for a cyber‑heist thriller.</a:t>
            </a:r>
            <a:br>
              <a:rPr lang="en-US" sz="900" i="1" dirty="0">
                <a:latin typeface="Calibri"/>
                <a:ea typeface="Calibri" pitchFamily="34" charset="-122"/>
                <a:cs typeface="Calibri"/>
              </a:rPr>
            </a:br>
            <a:r>
              <a:rPr lang="en-US"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Each expert: Proposes one plot step at a time- Shares it with the group- Refines </a:t>
            </a:r>
            <a:r>
              <a:rPr lang="en-US" sz="90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based on others’ input- Stops contributing if the plot becomes clichéd</a:t>
            </a:r>
            <a:endParaRPr lang="en-US" dirty="0"/>
          </a:p>
          <a:p>
            <a:pPr marL="0" indent="0">
              <a:buNone/>
            </a:pPr>
            <a:endParaRPr lang="en-US" sz="900" i="1" dirty="0">
              <a:solidFill>
                <a:srgbClr val="1E293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554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09–12  ·  CLOSE THE LOOP — ITERATE, JUDGE, AND CHAIN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Refinement &amp; Evaluation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19933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46E5"/>
                </a:solidFill>
              </a:rPr>
              <a:t>09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070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2336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Prompting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2336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model to self-correct and improve its own output before delivering the final answer.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your first draft. Now identify 2 weaknesses in your reasoning and rewrite with those fixed."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81728" y="1097280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1097280"/>
            <a:ext cx="54864" cy="19933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4"/>
          <p:cNvSpPr/>
          <p:nvPr/>
        </p:nvSpPr>
        <p:spPr>
          <a:xfrm>
            <a:off x="8266176" y="1179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F46E5"/>
                </a:solidFill>
              </a:rPr>
              <a:t>10</a:t>
            </a:r>
            <a:endParaRPr lang="en-US" sz="10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28032" y="1554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Prompting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28032" y="1847088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loop — the model reasons what to do, takes an action, then observes the result. Core pattern for agents.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09744" y="2432304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82896" y="24780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82896" y="263347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"Thought: I need today's stock price. Action: search[AAPL price]. Observation: $189. Thought: Now calculate…"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6032" y="3136392"/>
            <a:ext cx="54864" cy="19933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84048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11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24612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2336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02336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evaluate outputs: score answers on a rubric, compare two responses, or detect hallucinations.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84048" y="4471416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51713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57200" y="467258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"Score this answer 1–10 for accuracy, clarity, and completeness. Explain each score in one sentence."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681728" y="3136392"/>
            <a:ext cx="42062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81728" y="3136392"/>
            <a:ext cx="54864" cy="19933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0"/>
          <p:cNvSpPr/>
          <p:nvPr/>
        </p:nvSpPr>
        <p:spPr>
          <a:xfrm>
            <a:off x="8266176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7706"/>
                </a:solidFill>
              </a:rPr>
              <a:t>12</a:t>
            </a:r>
            <a:endParaRPr lang="en-US" sz="10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46120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828032" y="35935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828032" y="388620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one prompt becomes the input of the next. Enables reliable, complex multi-stage pipelines.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809744" y="4471416"/>
            <a:ext cx="3986784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82896" y="451713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882896" y="467258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1: Summarize this report. → Step 2: Extract 5 action items from that summary. → Step 3: Assign owners."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&amp; Modern Prompting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13–16  ·  THE FRONTIER OF PROMPT ENGINEERING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069848"/>
            <a:ext cx="822960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74904" y="1170432"/>
            <a:ext cx="2029968" cy="263347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904" y="1170432"/>
            <a:ext cx="2029968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929384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E9"/>
                </a:solidFill>
              </a:rPr>
              <a:t>13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618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RAG-Style Prompting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21214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prompts in retrieved documents for factual, context-rich answers beyond training data.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" y="3054096"/>
            <a:ext cx="1828800" cy="67665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310896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57784" y="326440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only the attached policy document, answer: What is the refund window for digital products?"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96312" y="1170432"/>
            <a:ext cx="2029968" cy="263347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96312" y="1170432"/>
            <a:ext cx="202996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4050792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3AED"/>
                </a:solidFill>
              </a:rPr>
              <a:t>14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26187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24328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Prompting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624328" y="21214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and refine better prompts. Self-optimizing feedback loops for continuous quality gains.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606040" y="3054096"/>
            <a:ext cx="1828800" cy="67665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79192" y="310896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679192" y="326440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extract key clauses from contracts. Generate the best prompt I should use to accomplish this."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617720" y="1170432"/>
            <a:ext cx="2029968" cy="263347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17720" y="1170432"/>
            <a:ext cx="2029968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1"/>
          <p:cNvSpPr/>
          <p:nvPr/>
        </p:nvSpPr>
        <p:spPr>
          <a:xfrm>
            <a:off x="6172200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46E5"/>
                </a:solidFill>
              </a:rPr>
              <a:t>15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261872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45736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745736" y="21214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JSON, tables, or schemas for every response. Essential for reliability in downstream pipelines and APIs.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27448" y="3054096"/>
            <a:ext cx="1828800" cy="67665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00600" y="310896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4800600" y="326440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ONLY valid JSON: { \"name\": string, \"priority\": 1-5, \"tags\": string[] }. No other text."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39128" y="1170432"/>
            <a:ext cx="2029968" cy="263347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739128" y="1170432"/>
            <a:ext cx="202996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29"/>
          <p:cNvSpPr/>
          <p:nvPr/>
        </p:nvSpPr>
        <p:spPr>
          <a:xfrm>
            <a:off x="8293608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16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1261872"/>
            <a:ext cx="310896" cy="31089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67144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Prompting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6867144" y="21214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explicit rules, ethical principles, and guardrails directly in the prompt for safer, auditable outputs.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848856" y="3054096"/>
            <a:ext cx="1828800" cy="67665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922008" y="310896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6922008" y="326440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"Rules: Never reveal pricing. Always recommend consulting a doctor. Never make promises. Now answer: [query]"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57200" y="39319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PROMPTING MATURITY LADDER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31520" y="4206240"/>
            <a:ext cx="1463040" cy="621792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31520" y="42062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2286000" y="4206240"/>
            <a:ext cx="1463040" cy="62179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286000" y="42062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Example-Based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3840480" y="4206240"/>
            <a:ext cx="1463040" cy="621792"/>
          </a:xfrm>
          <a:prstGeom prst="rect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840480" y="42062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5394960" y="4206240"/>
            <a:ext cx="1463040" cy="62179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394960" y="42062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949440" y="4206240"/>
            <a:ext cx="1463040" cy="6217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949440" y="42062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✦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AI Effectively: Prompting Basics</dc:title>
  <dc:subject>PptxGenJS Presentation</dc:subject>
  <dc:creator>PptxGenJS</dc:creator>
  <cp:lastModifiedBy>PptxGenJS</cp:lastModifiedBy>
  <cp:revision>34</cp:revision>
  <dcterms:created xsi:type="dcterms:W3CDTF">2026-04-30T05:18:39Z</dcterms:created>
  <dcterms:modified xsi:type="dcterms:W3CDTF">2026-05-07T11:22:08Z</dcterms:modified>
</cp:coreProperties>
</file>