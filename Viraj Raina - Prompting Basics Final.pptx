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9" r:id="rId4"/>
    <p:sldId id="260" r:id="rId5"/>
    <p:sldId id="261" r:id="rId6"/>
    <p:sldId id="262"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795AF5-30C3-2752-6758-7539CB2EF307}" v="264" dt="2026-05-07T16:48:30.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3E090D2E-430C-484F-A101-D98D5F2B1A39}" type="datetimeFigureOut">
              <a:rPr lang="en-US" smtClean="0"/>
              <a:t>5/7/2026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6F259CF2-43DE-6D4F-B0DC-8C58EBF8D81E}" type="slidenum">
              <a:rPr lang="en-US" smtClean="0"/>
              <a:t>‹#›</a:t>
            </a:fld>
            <a:endParaRPr lang="en-US"/>
          </a:p>
        </p:txBody>
      </p:sp>
    </p:spTree>
    <p:extLst>
      <p:ext uri="{BB962C8B-B14F-4D97-AF65-F5344CB8AC3E}">
        <p14:creationId xmlns:p14="http://schemas.microsoft.com/office/powerpoint/2010/main" val="1292106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PROMPTING TECHNIQUES — Speaker Notes
01 ZERO-SHOT PROMPTING
Definition: Providing only the instruction with no examples whatsoever. The model relies entirely on its pre-trained knowledge to complete the task. Most effective for clear, well-defined tasks where the desired output is unambiguous. Weakest for tasks requiring a specific style, tone, or domain-specific structure that the model may not default to.
02 ONE-SHOT PROMPTING
Definition: Providing exactly one input-output example alongside the instruction. The single example signals the expected format, tone, length, and structure before the model generates its response. Useful when the task has a predictable pattern and one demonstration is sufficient to guide behaviour without overwhelming the context window.
03 FEW-SHOT PROMPTING
Definition: Providing two or more input-output examples to establish a clear, replicable pattern. The more consistent and representative the examples, the more reliably the model generalises to new inputs. Particularly powerful for classification, data extraction, and any structured output where format consistency is critical.
04 ROLE PROMPTING
Definition: Assigning a specific persona, professional role, or expert character to the model at the start of the prompt. This conditions the model's vocabulary, assumptions, reasoning depth, and tone to match the assigned expertise. Highly effective for domain-specific tasks where perspective, authority, and consistent voice need to be maintained across the full response.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REASONING-BASED PROMPTING — Speaker Notes
05 CHAIN-OF-THOUGHT (CoT)
Definition: Instructing the model to explicitly reason through intermediate steps before arriving at a final answer. Often triggered by phrases like 'think step by step' or 'reason through this'. Significantly improves performance on multi-step arithmetic, logical reasoning, and complex decision-making tasks by preventing the model from jumping to a premature conclusion.
06 STEP-BACK PROMPTING
Definition: Asking the model to first identify the broader principles, concepts, or frameworks relevant to a problem before attempting to solve it. Forces abstraction before application. Reduces surface-level or reactive responses by grounding the answer in foundational reasoning rather than pattern-matching to the surface features of the question.
07 SELF-CONSISTENCY
Definition: Generating multiple independent responses using the same prompt and selecting the most frequently occurring or most logically consistent answer. Acts as a form of majority voting across reasoning paths. Reduces variance and improves reliability on ambiguous or complex tasks where a single reasoning path may be unreliable.
08 TREE-OF-THOUGHT (Advanced)
Definition: An extension of chain-of-thought where the model is explicitly asked to explore multiple parallel reasoning branches before converging on the best solution. Mimics deliberate, structured problem-solving. Particularly useful for creative planning, strategic decision-making, and optimisation tasks where early choices significantly affect the quality of the final outcome.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REFINEMENT &amp; EVALUATION PROMPTING — Speaker Notes
09 SELF-REFLECTION PROMPTING
Definition: Prompting the model to critically review and evaluate its own initial response, identify weaknesses or errors, and produce an improved version. Encourages a two-pass approach to generation. Results in higher accuracy, better-reasoned arguments, and reduced hallucination compared to single-pass responses, especially on tasks requiring nuance or precision.
10 ReAct PROMPTING
Definition: A prompting framework that interleaves reasoning (Thought) and action steps (Act). The model reasons about what to do, executes an action such as a search, calculation, or API call, observes the result, then reasons again based on the new information. Core architectural pattern behind many autonomous AI agents and tool-using language model systems.
11 LLM-AS-JUDGE
Definition: Using a language model as an automated evaluator to assess the quality of outputs — either from itself or another model. Common applications include scoring responses on a multi-criteria rubric, performing A/B comparison of two outputs, identifying factual inaccuracies, detecting hallucinated citations, and flagging policy violations at scale without human review.
12 PROMPT CHAINING
Definition: Decomposing a complex task into a sequence of smaller, focused prompts where the output of each step feeds directly into the next as input. Each link in the chain is independently verifiable and debuggable. Improves reliability and transparency compared to a single monolithic prompt, and allows different models or tools to be used at different stages of the pipeline.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&amp; MODERN PROMPTING — Speaker Notes
13 RAG-STYLE PROMPTING (Retrieval-Augmented Generation)
Definition: Injecting retrieved, external documents, database records, or real-time data directly into the prompt context before asking the model to generate a response. Allows the model to ground its answers in specific, up-to-date, or proprietary information that lies beyond its training data. Significantly reduces hallucination on factual queries and is the dominant architecture for enterprise AI applications.
14 META PROMPTING
Definition: Using a language model to generate, critique, rewrite, or optimise prompts themselves rather than directly solving the end task. Creates a self-improving feedback loop where the model iteratively produces better instructions for a downstream model. Useful for prompt libraries, automated prompt optimisation pipelines, and situations where the task is well-defined but the optimal phrasing is unknown.
15 STRUCTURED OUTPUT PROMPTING
Definition: Instructing the model to return its response exclusively in a specific, machine-readable format such as JSON, XML, CSV, Markdown tables, or a custom schema defined in the prompt. Essential for integrating AI outputs into downstream software systems, APIs, and data pipelines. Eliminates the need for fragile post-processing regex and ensures reliable parsing of model outputs at scale.
16 CONSTITUTIONAL / GUARDRAIL PROMPTING
Definition: Embedding explicit behavioural rules, ethical constraints, brand guidelines, or safety principles directly into the system or user prompt. The model is instructed to follow these rules before responding to any query. Ensures outputs remain safe, legally compliant, on-brand, and aligned with organisational policies across all interactions without requiring post-hoc filtering or human review of every response.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EA5E9"/>
          </a:solidFill>
          <a:ln/>
        </p:spPr>
      </p:sp>
      <p:sp>
        <p:nvSpPr>
          <p:cNvPr id="3" name="Shape 1"/>
          <p:cNvSpPr/>
          <p:nvPr/>
        </p:nvSpPr>
        <p:spPr>
          <a:xfrm>
            <a:off x="0" y="0"/>
            <a:ext cx="164592" cy="5143500"/>
          </a:xfrm>
          <a:prstGeom prst="rect">
            <a:avLst/>
          </a:prstGeom>
          <a:solidFill>
            <a:srgbClr val="0EA5E9"/>
          </a:solidFill>
          <a:ln/>
        </p:spPr>
      </p:sp>
      <p:sp>
        <p:nvSpPr>
          <p:cNvPr id="5" name="Text 3"/>
          <p:cNvSpPr/>
          <p:nvPr/>
        </p:nvSpPr>
        <p:spPr>
          <a:xfrm>
            <a:off x="457200" y="178509"/>
            <a:ext cx="8229600" cy="1920240"/>
          </a:xfrm>
          <a:prstGeom prst="rect">
            <a:avLst/>
          </a:prstGeom>
          <a:noFill/>
          <a:ln/>
        </p:spPr>
        <p:txBody>
          <a:bodyPr wrap="square" lIns="0" tIns="0" rIns="0" bIns="0" rtlCol="0" anchor="ctr"/>
          <a:lstStyle/>
          <a:p>
            <a:r>
              <a:rPr lang="en-US" sz="6000" b="1">
                <a:solidFill>
                  <a:srgbClr val="FFFFFF"/>
                </a:solidFill>
                <a:latin typeface="Arial Black"/>
                <a:cs typeface="Times New Roman"/>
              </a:rPr>
              <a:t>Prompting </a:t>
            </a:r>
            <a:r>
              <a:rPr lang="en-US" sz="6000" b="1">
                <a:solidFill>
                  <a:schemeClr val="accent5"/>
                </a:solidFill>
                <a:latin typeface="Arial Black"/>
                <a:cs typeface="Times New Roman"/>
              </a:rPr>
              <a:t>Techniques</a:t>
            </a:r>
            <a:endParaRPr lang="en-US" sz="6000">
              <a:solidFill>
                <a:schemeClr val="accent5"/>
              </a:solidFill>
              <a:latin typeface="Arial Black"/>
              <a:cs typeface="Times New Roman"/>
            </a:endParaRPr>
          </a:p>
        </p:txBody>
      </p:sp>
      <p:sp>
        <p:nvSpPr>
          <p:cNvPr id="7" name="Shape 5"/>
          <p:cNvSpPr/>
          <p:nvPr/>
        </p:nvSpPr>
        <p:spPr>
          <a:xfrm>
            <a:off x="457200" y="3782994"/>
            <a:ext cx="8229600" cy="22860"/>
          </a:xfrm>
          <a:prstGeom prst="rect">
            <a:avLst/>
          </a:prstGeom>
          <a:solidFill>
            <a:srgbClr val="1E293B"/>
          </a:solidFill>
          <a:ln/>
        </p:spPr>
      </p:sp>
      <p:sp>
        <p:nvSpPr>
          <p:cNvPr id="8" name="Text 6"/>
          <p:cNvSpPr/>
          <p:nvPr/>
        </p:nvSpPr>
        <p:spPr>
          <a:xfrm>
            <a:off x="457200" y="3938442"/>
            <a:ext cx="3657600" cy="219456"/>
          </a:xfrm>
          <a:prstGeom prst="rect">
            <a:avLst/>
          </a:prstGeom>
          <a:noFill/>
          <a:ln/>
        </p:spPr>
        <p:txBody>
          <a:bodyPr wrap="square" lIns="0" tIns="0" rIns="0" bIns="0" rtlCol="0" anchor="ctr"/>
          <a:lstStyle/>
          <a:p>
            <a:pPr marL="0" indent="0">
              <a:buNone/>
            </a:pPr>
            <a:r>
              <a:rPr lang="en-US" sz="850" b="1" kern="0" spc="300" dirty="0">
                <a:solidFill>
                  <a:srgbClr val="475569"/>
                </a:solidFill>
                <a:latin typeface="Calibri" pitchFamily="34" charset="0"/>
                <a:ea typeface="Calibri" pitchFamily="34" charset="-122"/>
                <a:cs typeface="Calibri" pitchFamily="34" charset="-120"/>
              </a:rPr>
              <a:t>PRESENTED BY</a:t>
            </a:r>
            <a:endParaRPr lang="en-US" sz="850" dirty="0"/>
          </a:p>
        </p:txBody>
      </p:sp>
      <p:sp>
        <p:nvSpPr>
          <p:cNvPr id="9" name="Text 7"/>
          <p:cNvSpPr/>
          <p:nvPr/>
        </p:nvSpPr>
        <p:spPr>
          <a:xfrm>
            <a:off x="457200" y="4202878"/>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Viraj Raina</a:t>
            </a:r>
            <a:endParaRPr lang="en-US" sz="3600" dirty="0"/>
          </a:p>
        </p:txBody>
      </p:sp>
      <p:sp>
        <p:nvSpPr>
          <p:cNvPr id="10" name="Shape 8"/>
          <p:cNvSpPr/>
          <p:nvPr/>
        </p:nvSpPr>
        <p:spPr>
          <a:xfrm>
            <a:off x="0" y="5052060"/>
            <a:ext cx="9144000" cy="91440"/>
          </a:xfrm>
          <a:prstGeom prst="rect">
            <a:avLst/>
          </a:prstGeom>
          <a:solidFill>
            <a:srgbClr val="0EA5E9"/>
          </a:solidFill>
          <a:ln/>
        </p:spPr>
      </p:sp>
      <p:sp>
        <p:nvSpPr>
          <p:cNvPr id="14" name="Text 4">
            <a:extLst>
              <a:ext uri="{FF2B5EF4-FFF2-40B4-BE49-F238E27FC236}">
                <a16:creationId xmlns:a16="http://schemas.microsoft.com/office/drawing/2014/main" id="{A890F951-CC8D-B682-7151-0EC818B0AE6D}"/>
              </a:ext>
            </a:extLst>
          </p:cNvPr>
          <p:cNvSpPr/>
          <p:nvPr/>
        </p:nvSpPr>
        <p:spPr>
          <a:xfrm>
            <a:off x="570155" y="2107020"/>
            <a:ext cx="4297680" cy="32004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Prompting is programming in natural language.</a:t>
            </a:r>
            <a:endParaRPr lang="en-US" sz="1300" dirty="0"/>
          </a:p>
        </p:txBody>
      </p:sp>
      <p:sp>
        <p:nvSpPr>
          <p:cNvPr id="16" name="Text 5">
            <a:extLst>
              <a:ext uri="{FF2B5EF4-FFF2-40B4-BE49-F238E27FC236}">
                <a16:creationId xmlns:a16="http://schemas.microsoft.com/office/drawing/2014/main" id="{4F1659E4-E131-AF78-43BE-A38A1BD2D8D8}"/>
              </a:ext>
            </a:extLst>
          </p:cNvPr>
          <p:cNvSpPr/>
          <p:nvPr/>
        </p:nvSpPr>
        <p:spPr>
          <a:xfrm>
            <a:off x="570155" y="2349941"/>
            <a:ext cx="4297680" cy="320040"/>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Better prompts → better outputs, every time.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4" name="Text 2"/>
          <p:cNvSpPr/>
          <p:nvPr/>
        </p:nvSpPr>
        <p:spPr>
          <a:xfrm>
            <a:off x="361054" y="558255"/>
            <a:ext cx="8229600" cy="219456"/>
          </a:xfrm>
          <a:prstGeom prst="rect">
            <a:avLst/>
          </a:prstGeom>
          <a:noFill/>
          <a:ln/>
        </p:spPr>
        <p:txBody>
          <a:bodyPr wrap="square" lIns="0" tIns="0" rIns="0" bIns="0" rtlCol="0" anchor="ctr"/>
          <a:lstStyle/>
          <a:p>
            <a:pPr marL="0" indent="0">
              <a:buNone/>
            </a:pPr>
            <a:r>
              <a:rPr lang="en-US" sz="900" b="1" kern="0" spc="200" dirty="0">
                <a:solidFill>
                  <a:srgbClr val="475569"/>
                </a:solidFill>
                <a:latin typeface="Calibri" pitchFamily="34" charset="0"/>
                <a:ea typeface="Calibri" pitchFamily="34" charset="-122"/>
                <a:cs typeface="Calibri" pitchFamily="34" charset="-120"/>
              </a:rPr>
              <a:t>INDEX  ·  16 TECHNIQUES ACROSS 4 CATEGORIES</a:t>
            </a:r>
            <a:endParaRPr lang="en-US" sz="900" dirty="0"/>
          </a:p>
        </p:txBody>
      </p:sp>
      <p:sp>
        <p:nvSpPr>
          <p:cNvPr id="5" name="Shape 3"/>
          <p:cNvSpPr/>
          <p:nvPr/>
        </p:nvSpPr>
        <p:spPr>
          <a:xfrm>
            <a:off x="361054" y="805143"/>
            <a:ext cx="8321040" cy="16459"/>
          </a:xfrm>
          <a:prstGeom prst="rect">
            <a:avLst/>
          </a:prstGeom>
          <a:solidFill>
            <a:srgbClr val="1E293B"/>
          </a:solidFill>
          <a:ln/>
        </p:spPr>
      </p:sp>
      <p:sp>
        <p:nvSpPr>
          <p:cNvPr id="6" name="Shape 4"/>
          <p:cNvSpPr/>
          <p:nvPr/>
        </p:nvSpPr>
        <p:spPr>
          <a:xfrm>
            <a:off x="361054" y="846156"/>
            <a:ext cx="2011680" cy="438912"/>
          </a:xfrm>
          <a:prstGeom prst="rect">
            <a:avLst/>
          </a:prstGeom>
          <a:solidFill>
            <a:srgbClr val="0EA5E9"/>
          </a:solidFill>
          <a:ln/>
        </p:spPr>
      </p:sp>
      <p:sp>
        <p:nvSpPr>
          <p:cNvPr id="7" name="Text 5"/>
          <p:cNvSpPr/>
          <p:nvPr/>
        </p:nvSpPr>
        <p:spPr>
          <a:xfrm>
            <a:off x="361054" y="846156"/>
            <a:ext cx="2011680" cy="43891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FOUNDATIONAL</a:t>
            </a:r>
            <a:endParaRPr lang="en-US" sz="900" dirty="0"/>
          </a:p>
        </p:txBody>
      </p:sp>
      <p:sp>
        <p:nvSpPr>
          <p:cNvPr id="8" name="Shape 6"/>
          <p:cNvSpPr/>
          <p:nvPr/>
        </p:nvSpPr>
        <p:spPr>
          <a:xfrm>
            <a:off x="361054" y="1384913"/>
            <a:ext cx="2011680" cy="713232"/>
          </a:xfrm>
          <a:prstGeom prst="rect">
            <a:avLst/>
          </a:prstGeom>
          <a:solidFill>
            <a:srgbClr val="131F2E"/>
          </a:solidFill>
          <a:ln w="6350">
            <a:solidFill>
              <a:srgbClr val="243B55"/>
            </a:solidFill>
            <a:prstDash val="solid"/>
          </a:ln>
        </p:spPr>
      </p:sp>
      <p:sp>
        <p:nvSpPr>
          <p:cNvPr id="9" name="Shape 7"/>
          <p:cNvSpPr/>
          <p:nvPr/>
        </p:nvSpPr>
        <p:spPr>
          <a:xfrm>
            <a:off x="361054" y="1384913"/>
            <a:ext cx="45720" cy="713232"/>
          </a:xfrm>
          <a:prstGeom prst="rect">
            <a:avLst/>
          </a:prstGeom>
          <a:solidFill>
            <a:srgbClr val="0EA5E9"/>
          </a:solidFill>
          <a:ln/>
        </p:spPr>
      </p:sp>
      <p:sp>
        <p:nvSpPr>
          <p:cNvPr id="10" name="Text 8"/>
          <p:cNvSpPr/>
          <p:nvPr/>
        </p:nvSpPr>
        <p:spPr>
          <a:xfrm>
            <a:off x="472261" y="145806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01  Zero-Shot Prompting</a:t>
            </a:r>
            <a:endParaRPr lang="en-US" sz="1050" dirty="0"/>
          </a:p>
        </p:txBody>
      </p:sp>
      <p:sp>
        <p:nvSpPr>
          <p:cNvPr id="11" name="Shape 9"/>
          <p:cNvSpPr/>
          <p:nvPr/>
        </p:nvSpPr>
        <p:spPr>
          <a:xfrm>
            <a:off x="361054" y="2147563"/>
            <a:ext cx="2011680" cy="713232"/>
          </a:xfrm>
          <a:prstGeom prst="rect">
            <a:avLst/>
          </a:prstGeom>
          <a:solidFill>
            <a:srgbClr val="1E293B"/>
          </a:solidFill>
          <a:ln w="6350">
            <a:solidFill>
              <a:srgbClr val="243B55"/>
            </a:solidFill>
            <a:prstDash val="solid"/>
          </a:ln>
        </p:spPr>
      </p:sp>
      <p:sp>
        <p:nvSpPr>
          <p:cNvPr id="12" name="Shape 10"/>
          <p:cNvSpPr/>
          <p:nvPr/>
        </p:nvSpPr>
        <p:spPr>
          <a:xfrm>
            <a:off x="361054" y="2147563"/>
            <a:ext cx="45720" cy="713232"/>
          </a:xfrm>
          <a:prstGeom prst="rect">
            <a:avLst/>
          </a:prstGeom>
          <a:solidFill>
            <a:srgbClr val="0EA5E9"/>
          </a:solidFill>
          <a:ln/>
        </p:spPr>
      </p:sp>
      <p:sp>
        <p:nvSpPr>
          <p:cNvPr id="13" name="Text 11"/>
          <p:cNvSpPr/>
          <p:nvPr/>
        </p:nvSpPr>
        <p:spPr>
          <a:xfrm>
            <a:off x="472261" y="222071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02  One-Shot Prompting</a:t>
            </a:r>
            <a:endParaRPr lang="en-US" sz="1050" dirty="0"/>
          </a:p>
        </p:txBody>
      </p:sp>
      <p:sp>
        <p:nvSpPr>
          <p:cNvPr id="14" name="Shape 12"/>
          <p:cNvSpPr/>
          <p:nvPr/>
        </p:nvSpPr>
        <p:spPr>
          <a:xfrm>
            <a:off x="361054" y="2952235"/>
            <a:ext cx="2011680" cy="713232"/>
          </a:xfrm>
          <a:prstGeom prst="rect">
            <a:avLst/>
          </a:prstGeom>
          <a:solidFill>
            <a:srgbClr val="131F2E"/>
          </a:solidFill>
          <a:ln w="6350">
            <a:solidFill>
              <a:srgbClr val="243B55"/>
            </a:solidFill>
            <a:prstDash val="solid"/>
          </a:ln>
        </p:spPr>
      </p:sp>
      <p:sp>
        <p:nvSpPr>
          <p:cNvPr id="15" name="Shape 13"/>
          <p:cNvSpPr/>
          <p:nvPr/>
        </p:nvSpPr>
        <p:spPr>
          <a:xfrm>
            <a:off x="361054" y="2952235"/>
            <a:ext cx="45720" cy="713232"/>
          </a:xfrm>
          <a:prstGeom prst="rect">
            <a:avLst/>
          </a:prstGeom>
          <a:solidFill>
            <a:srgbClr val="0EA5E9"/>
          </a:solidFill>
          <a:ln/>
        </p:spPr>
      </p:sp>
      <p:sp>
        <p:nvSpPr>
          <p:cNvPr id="16" name="Text 14"/>
          <p:cNvSpPr/>
          <p:nvPr/>
        </p:nvSpPr>
        <p:spPr>
          <a:xfrm>
            <a:off x="472261" y="3025387"/>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03  Few-Shot Prompting</a:t>
            </a:r>
            <a:endParaRPr lang="en-US" sz="1050" dirty="0"/>
          </a:p>
        </p:txBody>
      </p:sp>
      <p:sp>
        <p:nvSpPr>
          <p:cNvPr id="17" name="Shape 15"/>
          <p:cNvSpPr/>
          <p:nvPr/>
        </p:nvSpPr>
        <p:spPr>
          <a:xfrm>
            <a:off x="361054" y="3748502"/>
            <a:ext cx="2011680" cy="713232"/>
          </a:xfrm>
          <a:prstGeom prst="rect">
            <a:avLst/>
          </a:prstGeom>
          <a:solidFill>
            <a:srgbClr val="1E293B"/>
          </a:solidFill>
          <a:ln w="6350">
            <a:solidFill>
              <a:srgbClr val="243B55"/>
            </a:solidFill>
            <a:prstDash val="solid"/>
          </a:ln>
        </p:spPr>
      </p:sp>
      <p:sp>
        <p:nvSpPr>
          <p:cNvPr id="18" name="Shape 16"/>
          <p:cNvSpPr/>
          <p:nvPr/>
        </p:nvSpPr>
        <p:spPr>
          <a:xfrm>
            <a:off x="361054" y="3748502"/>
            <a:ext cx="45720" cy="713232"/>
          </a:xfrm>
          <a:prstGeom prst="rect">
            <a:avLst/>
          </a:prstGeom>
          <a:solidFill>
            <a:srgbClr val="0EA5E9"/>
          </a:solidFill>
          <a:ln/>
        </p:spPr>
      </p:sp>
      <p:sp>
        <p:nvSpPr>
          <p:cNvPr id="19" name="Text 17"/>
          <p:cNvSpPr/>
          <p:nvPr/>
        </p:nvSpPr>
        <p:spPr>
          <a:xfrm>
            <a:off x="472261" y="3821654"/>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04  Role Prompting</a:t>
            </a:r>
            <a:endParaRPr lang="en-US" sz="1050" dirty="0"/>
          </a:p>
        </p:txBody>
      </p:sp>
      <p:sp>
        <p:nvSpPr>
          <p:cNvPr id="20" name="Shape 18"/>
          <p:cNvSpPr/>
          <p:nvPr/>
        </p:nvSpPr>
        <p:spPr>
          <a:xfrm>
            <a:off x="2447365" y="846156"/>
            <a:ext cx="2011680" cy="438912"/>
          </a:xfrm>
          <a:prstGeom prst="rect">
            <a:avLst/>
          </a:prstGeom>
          <a:solidFill>
            <a:srgbClr val="7C3AED"/>
          </a:solidFill>
          <a:ln/>
        </p:spPr>
      </p:sp>
      <p:sp>
        <p:nvSpPr>
          <p:cNvPr id="21" name="Text 19"/>
          <p:cNvSpPr/>
          <p:nvPr/>
        </p:nvSpPr>
        <p:spPr>
          <a:xfrm>
            <a:off x="2447365" y="846156"/>
            <a:ext cx="2011680" cy="43891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REASONING</a:t>
            </a:r>
            <a:endParaRPr lang="en-US" sz="900" dirty="0"/>
          </a:p>
        </p:txBody>
      </p:sp>
      <p:sp>
        <p:nvSpPr>
          <p:cNvPr id="22" name="Shape 20"/>
          <p:cNvSpPr/>
          <p:nvPr/>
        </p:nvSpPr>
        <p:spPr>
          <a:xfrm>
            <a:off x="2447365" y="1384913"/>
            <a:ext cx="2011680" cy="713232"/>
          </a:xfrm>
          <a:prstGeom prst="rect">
            <a:avLst/>
          </a:prstGeom>
          <a:solidFill>
            <a:srgbClr val="131F2E"/>
          </a:solidFill>
          <a:ln w="6350">
            <a:solidFill>
              <a:srgbClr val="243B55"/>
            </a:solidFill>
            <a:prstDash val="solid"/>
          </a:ln>
        </p:spPr>
      </p:sp>
      <p:sp>
        <p:nvSpPr>
          <p:cNvPr id="23" name="Shape 21"/>
          <p:cNvSpPr/>
          <p:nvPr/>
        </p:nvSpPr>
        <p:spPr>
          <a:xfrm>
            <a:off x="2447365" y="1384913"/>
            <a:ext cx="45720" cy="713232"/>
          </a:xfrm>
          <a:prstGeom prst="rect">
            <a:avLst/>
          </a:prstGeom>
          <a:solidFill>
            <a:srgbClr val="7C3AED"/>
          </a:solidFill>
          <a:ln/>
        </p:spPr>
      </p:sp>
      <p:sp>
        <p:nvSpPr>
          <p:cNvPr id="24" name="Text 22"/>
          <p:cNvSpPr/>
          <p:nvPr/>
        </p:nvSpPr>
        <p:spPr>
          <a:xfrm>
            <a:off x="2575381" y="145806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05  Chain-of-Thought</a:t>
            </a:r>
            <a:endParaRPr lang="en-US" sz="1050" dirty="0"/>
          </a:p>
        </p:txBody>
      </p:sp>
      <p:sp>
        <p:nvSpPr>
          <p:cNvPr id="25" name="Shape 23"/>
          <p:cNvSpPr/>
          <p:nvPr/>
        </p:nvSpPr>
        <p:spPr>
          <a:xfrm>
            <a:off x="2447365" y="2147563"/>
            <a:ext cx="2011680" cy="713232"/>
          </a:xfrm>
          <a:prstGeom prst="rect">
            <a:avLst/>
          </a:prstGeom>
          <a:solidFill>
            <a:srgbClr val="1E293B"/>
          </a:solidFill>
          <a:ln w="6350">
            <a:solidFill>
              <a:srgbClr val="243B55"/>
            </a:solidFill>
            <a:prstDash val="solid"/>
          </a:ln>
        </p:spPr>
      </p:sp>
      <p:sp>
        <p:nvSpPr>
          <p:cNvPr id="26" name="Shape 24"/>
          <p:cNvSpPr/>
          <p:nvPr/>
        </p:nvSpPr>
        <p:spPr>
          <a:xfrm>
            <a:off x="2447365" y="2147563"/>
            <a:ext cx="45720" cy="713232"/>
          </a:xfrm>
          <a:prstGeom prst="rect">
            <a:avLst/>
          </a:prstGeom>
          <a:solidFill>
            <a:srgbClr val="7C3AED"/>
          </a:solidFill>
          <a:ln/>
        </p:spPr>
      </p:sp>
      <p:sp>
        <p:nvSpPr>
          <p:cNvPr id="27" name="Text 25"/>
          <p:cNvSpPr/>
          <p:nvPr/>
        </p:nvSpPr>
        <p:spPr>
          <a:xfrm>
            <a:off x="2575381" y="222071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06  Step-Back Prompting</a:t>
            </a:r>
            <a:endParaRPr lang="en-US" sz="1050" dirty="0"/>
          </a:p>
        </p:txBody>
      </p:sp>
      <p:sp>
        <p:nvSpPr>
          <p:cNvPr id="28" name="Shape 26"/>
          <p:cNvSpPr/>
          <p:nvPr/>
        </p:nvSpPr>
        <p:spPr>
          <a:xfrm>
            <a:off x="2447365" y="2952235"/>
            <a:ext cx="2011680" cy="713232"/>
          </a:xfrm>
          <a:prstGeom prst="rect">
            <a:avLst/>
          </a:prstGeom>
          <a:solidFill>
            <a:srgbClr val="131F2E"/>
          </a:solidFill>
          <a:ln w="6350">
            <a:solidFill>
              <a:srgbClr val="243B55"/>
            </a:solidFill>
            <a:prstDash val="solid"/>
          </a:ln>
        </p:spPr>
      </p:sp>
      <p:sp>
        <p:nvSpPr>
          <p:cNvPr id="29" name="Shape 27"/>
          <p:cNvSpPr/>
          <p:nvPr/>
        </p:nvSpPr>
        <p:spPr>
          <a:xfrm>
            <a:off x="2447365" y="2952235"/>
            <a:ext cx="45720" cy="713232"/>
          </a:xfrm>
          <a:prstGeom prst="rect">
            <a:avLst/>
          </a:prstGeom>
          <a:solidFill>
            <a:srgbClr val="7C3AED"/>
          </a:solidFill>
          <a:ln/>
        </p:spPr>
      </p:sp>
      <p:sp>
        <p:nvSpPr>
          <p:cNvPr id="30" name="Text 28"/>
          <p:cNvSpPr/>
          <p:nvPr/>
        </p:nvSpPr>
        <p:spPr>
          <a:xfrm>
            <a:off x="2575381" y="3025387"/>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07  Self-Consistency</a:t>
            </a:r>
            <a:endParaRPr lang="en-US" sz="1050" dirty="0"/>
          </a:p>
        </p:txBody>
      </p:sp>
      <p:sp>
        <p:nvSpPr>
          <p:cNvPr id="31" name="Shape 29"/>
          <p:cNvSpPr/>
          <p:nvPr/>
        </p:nvSpPr>
        <p:spPr>
          <a:xfrm>
            <a:off x="2447365" y="3748502"/>
            <a:ext cx="2011680" cy="713232"/>
          </a:xfrm>
          <a:prstGeom prst="rect">
            <a:avLst/>
          </a:prstGeom>
          <a:solidFill>
            <a:srgbClr val="1E293B"/>
          </a:solidFill>
          <a:ln w="6350">
            <a:solidFill>
              <a:srgbClr val="243B55"/>
            </a:solidFill>
            <a:prstDash val="solid"/>
          </a:ln>
        </p:spPr>
      </p:sp>
      <p:sp>
        <p:nvSpPr>
          <p:cNvPr id="32" name="Shape 30"/>
          <p:cNvSpPr/>
          <p:nvPr/>
        </p:nvSpPr>
        <p:spPr>
          <a:xfrm>
            <a:off x="2447365" y="3748502"/>
            <a:ext cx="45720" cy="713232"/>
          </a:xfrm>
          <a:prstGeom prst="rect">
            <a:avLst/>
          </a:prstGeom>
          <a:solidFill>
            <a:srgbClr val="7C3AED"/>
          </a:solidFill>
          <a:ln/>
        </p:spPr>
      </p:sp>
      <p:sp>
        <p:nvSpPr>
          <p:cNvPr id="33" name="Text 31"/>
          <p:cNvSpPr/>
          <p:nvPr/>
        </p:nvSpPr>
        <p:spPr>
          <a:xfrm>
            <a:off x="2575381" y="3821654"/>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08  Tree-of-Thought</a:t>
            </a:r>
            <a:endParaRPr lang="en-US" sz="1050" dirty="0"/>
          </a:p>
        </p:txBody>
      </p:sp>
      <p:sp>
        <p:nvSpPr>
          <p:cNvPr id="34" name="Shape 32"/>
          <p:cNvSpPr/>
          <p:nvPr/>
        </p:nvSpPr>
        <p:spPr>
          <a:xfrm>
            <a:off x="4542080" y="846156"/>
            <a:ext cx="2011680" cy="438912"/>
          </a:xfrm>
          <a:prstGeom prst="rect">
            <a:avLst/>
          </a:prstGeom>
          <a:solidFill>
            <a:srgbClr val="4F46E5"/>
          </a:solidFill>
          <a:ln/>
        </p:spPr>
      </p:sp>
      <p:sp>
        <p:nvSpPr>
          <p:cNvPr id="35" name="Text 33"/>
          <p:cNvSpPr/>
          <p:nvPr/>
        </p:nvSpPr>
        <p:spPr>
          <a:xfrm>
            <a:off x="4542080" y="846156"/>
            <a:ext cx="2011680" cy="43891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REFINEMENT &amp; EVAL</a:t>
            </a:r>
            <a:endParaRPr lang="en-US" sz="900" dirty="0"/>
          </a:p>
        </p:txBody>
      </p:sp>
      <p:sp>
        <p:nvSpPr>
          <p:cNvPr id="36" name="Shape 34"/>
          <p:cNvSpPr/>
          <p:nvPr/>
        </p:nvSpPr>
        <p:spPr>
          <a:xfrm>
            <a:off x="4542080" y="1384913"/>
            <a:ext cx="2011680" cy="713232"/>
          </a:xfrm>
          <a:prstGeom prst="rect">
            <a:avLst/>
          </a:prstGeom>
          <a:solidFill>
            <a:srgbClr val="131F2E"/>
          </a:solidFill>
          <a:ln w="6350">
            <a:solidFill>
              <a:srgbClr val="243B55"/>
            </a:solidFill>
            <a:prstDash val="solid"/>
          </a:ln>
        </p:spPr>
      </p:sp>
      <p:sp>
        <p:nvSpPr>
          <p:cNvPr id="37" name="Shape 35"/>
          <p:cNvSpPr/>
          <p:nvPr/>
        </p:nvSpPr>
        <p:spPr>
          <a:xfrm>
            <a:off x="4542080" y="1384913"/>
            <a:ext cx="45720" cy="713232"/>
          </a:xfrm>
          <a:prstGeom prst="rect">
            <a:avLst/>
          </a:prstGeom>
          <a:solidFill>
            <a:srgbClr val="4F46E5"/>
          </a:solidFill>
          <a:ln/>
        </p:spPr>
      </p:sp>
      <p:sp>
        <p:nvSpPr>
          <p:cNvPr id="38" name="Text 36"/>
          <p:cNvSpPr/>
          <p:nvPr/>
        </p:nvSpPr>
        <p:spPr>
          <a:xfrm>
            <a:off x="4670096" y="145806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09  Self-Reflection</a:t>
            </a:r>
            <a:endParaRPr lang="en-US" sz="1050" dirty="0"/>
          </a:p>
        </p:txBody>
      </p:sp>
      <p:sp>
        <p:nvSpPr>
          <p:cNvPr id="39" name="Shape 37"/>
          <p:cNvSpPr/>
          <p:nvPr/>
        </p:nvSpPr>
        <p:spPr>
          <a:xfrm>
            <a:off x="4542080" y="2147563"/>
            <a:ext cx="2011680" cy="713232"/>
          </a:xfrm>
          <a:prstGeom prst="rect">
            <a:avLst/>
          </a:prstGeom>
          <a:solidFill>
            <a:srgbClr val="1E293B"/>
          </a:solidFill>
          <a:ln w="6350">
            <a:solidFill>
              <a:srgbClr val="243B55"/>
            </a:solidFill>
            <a:prstDash val="solid"/>
          </a:ln>
        </p:spPr>
      </p:sp>
      <p:sp>
        <p:nvSpPr>
          <p:cNvPr id="40" name="Shape 38"/>
          <p:cNvSpPr/>
          <p:nvPr/>
        </p:nvSpPr>
        <p:spPr>
          <a:xfrm>
            <a:off x="4542080" y="2147563"/>
            <a:ext cx="45720" cy="713232"/>
          </a:xfrm>
          <a:prstGeom prst="rect">
            <a:avLst/>
          </a:prstGeom>
          <a:solidFill>
            <a:srgbClr val="4F46E5"/>
          </a:solidFill>
          <a:ln/>
        </p:spPr>
      </p:sp>
      <p:sp>
        <p:nvSpPr>
          <p:cNvPr id="41" name="Text 39"/>
          <p:cNvSpPr/>
          <p:nvPr/>
        </p:nvSpPr>
        <p:spPr>
          <a:xfrm>
            <a:off x="4670096" y="222071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10  ReAct Prompting</a:t>
            </a:r>
            <a:endParaRPr lang="en-US" sz="1050" dirty="0"/>
          </a:p>
        </p:txBody>
      </p:sp>
      <p:sp>
        <p:nvSpPr>
          <p:cNvPr id="42" name="Shape 40"/>
          <p:cNvSpPr/>
          <p:nvPr/>
        </p:nvSpPr>
        <p:spPr>
          <a:xfrm>
            <a:off x="4542080" y="2952235"/>
            <a:ext cx="2011680" cy="713232"/>
          </a:xfrm>
          <a:prstGeom prst="rect">
            <a:avLst/>
          </a:prstGeom>
          <a:solidFill>
            <a:srgbClr val="131F2E"/>
          </a:solidFill>
          <a:ln w="6350">
            <a:solidFill>
              <a:srgbClr val="243B55"/>
            </a:solidFill>
            <a:prstDash val="solid"/>
          </a:ln>
        </p:spPr>
      </p:sp>
      <p:sp>
        <p:nvSpPr>
          <p:cNvPr id="43" name="Shape 41"/>
          <p:cNvSpPr/>
          <p:nvPr/>
        </p:nvSpPr>
        <p:spPr>
          <a:xfrm>
            <a:off x="4542080" y="2952235"/>
            <a:ext cx="45720" cy="713232"/>
          </a:xfrm>
          <a:prstGeom prst="rect">
            <a:avLst/>
          </a:prstGeom>
          <a:solidFill>
            <a:srgbClr val="4F46E5"/>
          </a:solidFill>
          <a:ln/>
        </p:spPr>
      </p:sp>
      <p:sp>
        <p:nvSpPr>
          <p:cNvPr id="44" name="Text 42"/>
          <p:cNvSpPr/>
          <p:nvPr/>
        </p:nvSpPr>
        <p:spPr>
          <a:xfrm>
            <a:off x="4670096" y="3025387"/>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11  LLM-as-Judge</a:t>
            </a:r>
            <a:endParaRPr lang="en-US" sz="1050" dirty="0"/>
          </a:p>
        </p:txBody>
      </p:sp>
      <p:sp>
        <p:nvSpPr>
          <p:cNvPr id="45" name="Shape 43"/>
          <p:cNvSpPr/>
          <p:nvPr/>
        </p:nvSpPr>
        <p:spPr>
          <a:xfrm>
            <a:off x="4542080" y="3748502"/>
            <a:ext cx="2011680" cy="713232"/>
          </a:xfrm>
          <a:prstGeom prst="rect">
            <a:avLst/>
          </a:prstGeom>
          <a:solidFill>
            <a:srgbClr val="1E293B"/>
          </a:solidFill>
          <a:ln w="6350">
            <a:solidFill>
              <a:srgbClr val="243B55"/>
            </a:solidFill>
            <a:prstDash val="solid"/>
          </a:ln>
        </p:spPr>
      </p:sp>
      <p:sp>
        <p:nvSpPr>
          <p:cNvPr id="46" name="Shape 44"/>
          <p:cNvSpPr/>
          <p:nvPr/>
        </p:nvSpPr>
        <p:spPr>
          <a:xfrm>
            <a:off x="4542080" y="3748502"/>
            <a:ext cx="45720" cy="713232"/>
          </a:xfrm>
          <a:prstGeom prst="rect">
            <a:avLst/>
          </a:prstGeom>
          <a:solidFill>
            <a:srgbClr val="4F46E5"/>
          </a:solidFill>
          <a:ln/>
        </p:spPr>
      </p:sp>
      <p:sp>
        <p:nvSpPr>
          <p:cNvPr id="47" name="Text 45"/>
          <p:cNvSpPr/>
          <p:nvPr/>
        </p:nvSpPr>
        <p:spPr>
          <a:xfrm>
            <a:off x="4670096" y="3821654"/>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12  Prompt Chaining</a:t>
            </a:r>
            <a:endParaRPr lang="en-US" sz="1050" dirty="0"/>
          </a:p>
        </p:txBody>
      </p:sp>
      <p:sp>
        <p:nvSpPr>
          <p:cNvPr id="48" name="Shape 46"/>
          <p:cNvSpPr/>
          <p:nvPr/>
        </p:nvSpPr>
        <p:spPr>
          <a:xfrm>
            <a:off x="6653605" y="846156"/>
            <a:ext cx="2011680" cy="438912"/>
          </a:xfrm>
          <a:prstGeom prst="rect">
            <a:avLst/>
          </a:prstGeom>
          <a:solidFill>
            <a:srgbClr val="10B981"/>
          </a:solidFill>
          <a:ln/>
        </p:spPr>
      </p:sp>
      <p:sp>
        <p:nvSpPr>
          <p:cNvPr id="49" name="Text 47"/>
          <p:cNvSpPr/>
          <p:nvPr/>
        </p:nvSpPr>
        <p:spPr>
          <a:xfrm>
            <a:off x="6653605" y="846156"/>
            <a:ext cx="2011680" cy="43891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ADVANCED &amp; MODERN</a:t>
            </a:r>
            <a:endParaRPr lang="en-US" sz="900" dirty="0"/>
          </a:p>
        </p:txBody>
      </p:sp>
      <p:sp>
        <p:nvSpPr>
          <p:cNvPr id="50" name="Shape 48"/>
          <p:cNvSpPr/>
          <p:nvPr/>
        </p:nvSpPr>
        <p:spPr>
          <a:xfrm>
            <a:off x="6653605" y="1384913"/>
            <a:ext cx="2011680" cy="713232"/>
          </a:xfrm>
          <a:prstGeom prst="rect">
            <a:avLst/>
          </a:prstGeom>
          <a:solidFill>
            <a:srgbClr val="131F2E"/>
          </a:solidFill>
          <a:ln w="6350">
            <a:solidFill>
              <a:srgbClr val="243B55"/>
            </a:solidFill>
            <a:prstDash val="solid"/>
          </a:ln>
        </p:spPr>
      </p:sp>
      <p:sp>
        <p:nvSpPr>
          <p:cNvPr id="51" name="Shape 49"/>
          <p:cNvSpPr/>
          <p:nvPr/>
        </p:nvSpPr>
        <p:spPr>
          <a:xfrm>
            <a:off x="6653605" y="1384913"/>
            <a:ext cx="45720" cy="713232"/>
          </a:xfrm>
          <a:prstGeom prst="rect">
            <a:avLst/>
          </a:prstGeom>
          <a:solidFill>
            <a:srgbClr val="10B981"/>
          </a:solidFill>
          <a:ln/>
        </p:spPr>
      </p:sp>
      <p:sp>
        <p:nvSpPr>
          <p:cNvPr id="52" name="Text 50"/>
          <p:cNvSpPr/>
          <p:nvPr/>
        </p:nvSpPr>
        <p:spPr>
          <a:xfrm>
            <a:off x="6781621" y="145806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13  RAG-Style Prompting</a:t>
            </a:r>
            <a:endParaRPr lang="en-US" sz="1050" dirty="0"/>
          </a:p>
        </p:txBody>
      </p:sp>
      <p:sp>
        <p:nvSpPr>
          <p:cNvPr id="53" name="Shape 51"/>
          <p:cNvSpPr/>
          <p:nvPr/>
        </p:nvSpPr>
        <p:spPr>
          <a:xfrm>
            <a:off x="6653605" y="2147563"/>
            <a:ext cx="2011680" cy="713232"/>
          </a:xfrm>
          <a:prstGeom prst="rect">
            <a:avLst/>
          </a:prstGeom>
          <a:solidFill>
            <a:srgbClr val="1E293B"/>
          </a:solidFill>
          <a:ln w="6350">
            <a:solidFill>
              <a:srgbClr val="243B55"/>
            </a:solidFill>
            <a:prstDash val="solid"/>
          </a:ln>
        </p:spPr>
      </p:sp>
      <p:sp>
        <p:nvSpPr>
          <p:cNvPr id="54" name="Shape 52"/>
          <p:cNvSpPr/>
          <p:nvPr/>
        </p:nvSpPr>
        <p:spPr>
          <a:xfrm>
            <a:off x="6653605" y="2147563"/>
            <a:ext cx="45720" cy="713232"/>
          </a:xfrm>
          <a:prstGeom prst="rect">
            <a:avLst/>
          </a:prstGeom>
          <a:solidFill>
            <a:srgbClr val="10B981"/>
          </a:solidFill>
          <a:ln/>
        </p:spPr>
      </p:sp>
      <p:sp>
        <p:nvSpPr>
          <p:cNvPr id="55" name="Text 53"/>
          <p:cNvSpPr/>
          <p:nvPr/>
        </p:nvSpPr>
        <p:spPr>
          <a:xfrm>
            <a:off x="6781621" y="2220715"/>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14  Meta Prompting</a:t>
            </a:r>
            <a:endParaRPr lang="en-US" sz="1050" dirty="0"/>
          </a:p>
        </p:txBody>
      </p:sp>
      <p:sp>
        <p:nvSpPr>
          <p:cNvPr id="56" name="Shape 54"/>
          <p:cNvSpPr/>
          <p:nvPr/>
        </p:nvSpPr>
        <p:spPr>
          <a:xfrm>
            <a:off x="6653605" y="2952235"/>
            <a:ext cx="2011680" cy="713232"/>
          </a:xfrm>
          <a:prstGeom prst="rect">
            <a:avLst/>
          </a:prstGeom>
          <a:solidFill>
            <a:srgbClr val="131F2E"/>
          </a:solidFill>
          <a:ln w="6350">
            <a:solidFill>
              <a:srgbClr val="243B55"/>
            </a:solidFill>
            <a:prstDash val="solid"/>
          </a:ln>
        </p:spPr>
      </p:sp>
      <p:sp>
        <p:nvSpPr>
          <p:cNvPr id="57" name="Shape 55"/>
          <p:cNvSpPr/>
          <p:nvPr/>
        </p:nvSpPr>
        <p:spPr>
          <a:xfrm>
            <a:off x="6653605" y="2952235"/>
            <a:ext cx="45720" cy="713232"/>
          </a:xfrm>
          <a:prstGeom prst="rect">
            <a:avLst/>
          </a:prstGeom>
          <a:solidFill>
            <a:srgbClr val="10B981"/>
          </a:solidFill>
          <a:ln/>
        </p:spPr>
      </p:sp>
      <p:sp>
        <p:nvSpPr>
          <p:cNvPr id="58" name="Text 56"/>
          <p:cNvSpPr/>
          <p:nvPr/>
        </p:nvSpPr>
        <p:spPr>
          <a:xfrm>
            <a:off x="6781621" y="3025387"/>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15  Structured Output</a:t>
            </a:r>
            <a:endParaRPr lang="en-US" sz="1050" dirty="0"/>
          </a:p>
        </p:txBody>
      </p:sp>
      <p:sp>
        <p:nvSpPr>
          <p:cNvPr id="59" name="Shape 57"/>
          <p:cNvSpPr/>
          <p:nvPr/>
        </p:nvSpPr>
        <p:spPr>
          <a:xfrm>
            <a:off x="6653605" y="3748502"/>
            <a:ext cx="2011680" cy="713232"/>
          </a:xfrm>
          <a:prstGeom prst="rect">
            <a:avLst/>
          </a:prstGeom>
          <a:solidFill>
            <a:srgbClr val="1E293B"/>
          </a:solidFill>
          <a:ln w="6350">
            <a:solidFill>
              <a:srgbClr val="243B55"/>
            </a:solidFill>
            <a:prstDash val="solid"/>
          </a:ln>
        </p:spPr>
      </p:sp>
      <p:sp>
        <p:nvSpPr>
          <p:cNvPr id="60" name="Shape 58"/>
          <p:cNvSpPr/>
          <p:nvPr/>
        </p:nvSpPr>
        <p:spPr>
          <a:xfrm>
            <a:off x="6653605" y="3748502"/>
            <a:ext cx="45720" cy="713232"/>
          </a:xfrm>
          <a:prstGeom prst="rect">
            <a:avLst/>
          </a:prstGeom>
          <a:solidFill>
            <a:srgbClr val="10B981"/>
          </a:solidFill>
          <a:ln/>
        </p:spPr>
      </p:sp>
      <p:sp>
        <p:nvSpPr>
          <p:cNvPr id="61" name="Text 59"/>
          <p:cNvSpPr/>
          <p:nvPr/>
        </p:nvSpPr>
        <p:spPr>
          <a:xfrm>
            <a:off x="6781621" y="3821654"/>
            <a:ext cx="1828800" cy="56692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16  Constitutional</a:t>
            </a:r>
            <a:endParaRPr lang="en-US" sz="1050" dirty="0"/>
          </a:p>
        </p:txBody>
      </p:sp>
      <p:sp>
        <p:nvSpPr>
          <p:cNvPr id="62" name="Shape 60"/>
          <p:cNvSpPr/>
          <p:nvPr/>
        </p:nvSpPr>
        <p:spPr>
          <a:xfrm>
            <a:off x="0" y="5070348"/>
            <a:ext cx="9144000" cy="73152"/>
          </a:xfrm>
          <a:prstGeom prst="rect">
            <a:avLst/>
          </a:prstGeom>
          <a:solidFill>
            <a:srgbClr val="0EA5E9"/>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274320" y="155448"/>
            <a:ext cx="8503920" cy="228600"/>
          </a:xfrm>
          <a:prstGeom prst="rect">
            <a:avLst/>
          </a:prstGeom>
          <a:noFill/>
          <a:ln/>
        </p:spPr>
        <p:txBody>
          <a:bodyPr wrap="square" lIns="0" tIns="0" rIns="0" bIns="0" rtlCol="0" anchor="ctr"/>
          <a:lstStyle/>
          <a:p>
            <a:pPr marL="0" indent="0">
              <a:buNone/>
            </a:pPr>
            <a:r>
              <a:rPr lang="en-US" sz="850" b="1" kern="0" spc="300" dirty="0">
                <a:solidFill>
                  <a:srgbClr val="0EA5E9"/>
                </a:solidFill>
                <a:latin typeface="Calibri" pitchFamily="34" charset="0"/>
                <a:ea typeface="Calibri" pitchFamily="34" charset="-122"/>
                <a:cs typeface="Calibri" pitchFamily="34" charset="-120"/>
              </a:rPr>
              <a:t>TECHNIQUES 01–04  ·  THE BUILDING BLOCKS OF AI COMMUNICATION</a:t>
            </a:r>
            <a:endParaRPr lang="en-US" sz="850" dirty="0"/>
          </a:p>
        </p:txBody>
      </p:sp>
      <p:sp>
        <p:nvSpPr>
          <p:cNvPr id="4" name="Text 2"/>
          <p:cNvSpPr/>
          <p:nvPr/>
        </p:nvSpPr>
        <p:spPr>
          <a:xfrm>
            <a:off x="274320" y="365760"/>
            <a:ext cx="8503920" cy="594360"/>
          </a:xfrm>
          <a:prstGeom prst="rect">
            <a:avLst/>
          </a:prstGeom>
          <a:noFill/>
          <a:ln/>
        </p:spPr>
        <p:txBody>
          <a:bodyPr wrap="square" lIns="0" tIns="0" rIns="0" bIns="0" rtlCol="0" anchor="ctr"/>
          <a:lstStyle/>
          <a:p>
            <a:pPr marL="0" indent="0">
              <a:buNone/>
            </a:pPr>
            <a:r>
              <a:rPr lang="en-US" sz="2600" b="1" dirty="0">
                <a:solidFill>
                  <a:srgbClr val="0F172A"/>
                </a:solidFill>
                <a:latin typeface="Arial Black"/>
                <a:ea typeface="Arial Black" pitchFamily="34" charset="-122"/>
                <a:cs typeface="Arial Black" pitchFamily="34" charset="-120"/>
              </a:rPr>
              <a:t>Foundational Prompting </a:t>
            </a:r>
            <a:r>
              <a:rPr lang="en-US" sz="2600" b="1" dirty="0" err="1">
                <a:solidFill>
                  <a:srgbClr val="0F172A"/>
                </a:solidFill>
                <a:latin typeface="Arial Black"/>
                <a:ea typeface="Arial Black" pitchFamily="34" charset="-122"/>
                <a:cs typeface="Arial Black" pitchFamily="34" charset="-120"/>
              </a:rPr>
              <a:t>Techniqu</a:t>
            </a:r>
            <a:r>
              <a:rPr lang="en-US" sz="2600" b="1" dirty="0">
                <a:solidFill>
                  <a:srgbClr val="0F172A"/>
                </a:solidFill>
                <a:latin typeface="Arial Black"/>
                <a:ea typeface="Arial Black" pitchFamily="34" charset="-122"/>
                <a:cs typeface="Arial Black" pitchFamily="34" charset="-120"/>
              </a:rPr>
              <a:t>e</a:t>
            </a:r>
            <a:endParaRPr lang="en-US" sz="2600" dirty="0" err="1">
              <a:latin typeface="Times New Roman"/>
              <a:cs typeface="Times New Roman"/>
            </a:endParaRPr>
          </a:p>
        </p:txBody>
      </p:sp>
      <p:sp>
        <p:nvSpPr>
          <p:cNvPr id="5" name="Shape 3"/>
          <p:cNvSpPr/>
          <p:nvPr/>
        </p:nvSpPr>
        <p:spPr>
          <a:xfrm>
            <a:off x="274320" y="987552"/>
            <a:ext cx="8595360" cy="16459"/>
          </a:xfrm>
          <a:prstGeom prst="rect">
            <a:avLst/>
          </a:prstGeom>
          <a:solidFill>
            <a:srgbClr val="E2E8F0"/>
          </a:solidFill>
          <a:ln/>
        </p:spPr>
      </p:sp>
      <p:sp>
        <p:nvSpPr>
          <p:cNvPr id="6" name="Shape 4"/>
          <p:cNvSpPr/>
          <p:nvPr/>
        </p:nvSpPr>
        <p:spPr>
          <a:xfrm>
            <a:off x="256032" y="1097280"/>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7" name="Shape 5"/>
          <p:cNvSpPr/>
          <p:nvPr/>
        </p:nvSpPr>
        <p:spPr>
          <a:xfrm>
            <a:off x="256032" y="1097280"/>
            <a:ext cx="54864" cy="1993392"/>
          </a:xfrm>
          <a:prstGeom prst="rect">
            <a:avLst/>
          </a:prstGeom>
          <a:solidFill>
            <a:srgbClr val="0EA5E9"/>
          </a:solidFill>
          <a:ln/>
        </p:spPr>
      </p:sp>
      <p:sp>
        <p:nvSpPr>
          <p:cNvPr id="8" name="Text 6"/>
          <p:cNvSpPr/>
          <p:nvPr/>
        </p:nvSpPr>
        <p:spPr>
          <a:xfrm>
            <a:off x="3840480" y="1179576"/>
            <a:ext cx="530352" cy="219456"/>
          </a:xfrm>
          <a:prstGeom prst="rect">
            <a:avLst/>
          </a:prstGeom>
          <a:noFill/>
          <a:ln/>
        </p:spPr>
        <p:txBody>
          <a:bodyPr wrap="square" lIns="0" tIns="0" rIns="0" bIns="0" rtlCol="0" anchor="ctr"/>
          <a:lstStyle/>
          <a:p>
            <a:pPr marL="0" indent="0" algn="r">
              <a:buNone/>
            </a:pPr>
            <a:r>
              <a:rPr lang="en-US" sz="1050" b="1" dirty="0">
                <a:solidFill>
                  <a:srgbClr val="0EA5E9"/>
                </a:solidFill>
              </a:rPr>
              <a:t>01</a:t>
            </a:r>
            <a:endParaRPr lang="en-US" sz="1050" dirty="0"/>
          </a:p>
        </p:txBody>
      </p:sp>
      <p:pic>
        <p:nvPicPr>
          <p:cNvPr id="9" name="Image 0" descr="preencoded.png"/>
          <p:cNvPicPr>
            <a:picLocks noChangeAspect="1"/>
          </p:cNvPicPr>
          <p:nvPr/>
        </p:nvPicPr>
        <p:blipFill>
          <a:blip r:embed="rId3"/>
          <a:stretch>
            <a:fillRect/>
          </a:stretch>
        </p:blipFill>
        <p:spPr>
          <a:xfrm>
            <a:off x="420624" y="1207008"/>
            <a:ext cx="292608" cy="292608"/>
          </a:xfrm>
          <a:prstGeom prst="rect">
            <a:avLst/>
          </a:prstGeom>
        </p:spPr>
      </p:pic>
      <p:sp>
        <p:nvSpPr>
          <p:cNvPr id="10" name="Text 7"/>
          <p:cNvSpPr/>
          <p:nvPr/>
        </p:nvSpPr>
        <p:spPr>
          <a:xfrm>
            <a:off x="402336" y="1554480"/>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Zero-Shot Prompting</a:t>
            </a:r>
            <a:endParaRPr lang="en-US" sz="1250" dirty="0"/>
          </a:p>
        </p:txBody>
      </p:sp>
      <p:sp>
        <p:nvSpPr>
          <p:cNvPr id="12" name="Shape 9"/>
          <p:cNvSpPr/>
          <p:nvPr/>
        </p:nvSpPr>
        <p:spPr>
          <a:xfrm>
            <a:off x="384048" y="1852400"/>
            <a:ext cx="3986784" cy="1165120"/>
          </a:xfrm>
          <a:prstGeom prst="rect">
            <a:avLst/>
          </a:prstGeom>
          <a:solidFill>
            <a:srgbClr val="F1F5F9"/>
          </a:solidFill>
          <a:ln w="6350">
            <a:solidFill>
              <a:srgbClr val="E2E8F0"/>
            </a:solidFill>
            <a:prstDash val="solid"/>
          </a:ln>
        </p:spPr>
      </p:sp>
      <p:sp>
        <p:nvSpPr>
          <p:cNvPr id="13" name="Text 10"/>
          <p:cNvSpPr/>
          <p:nvPr/>
        </p:nvSpPr>
        <p:spPr>
          <a:xfrm>
            <a:off x="423582" y="1856098"/>
            <a:ext cx="777240" cy="289179"/>
          </a:xfrm>
          <a:prstGeom prst="rect">
            <a:avLst/>
          </a:prstGeom>
          <a:noFill/>
          <a:ln/>
        </p:spPr>
        <p:txBody>
          <a:bodyPr wrap="square" lIns="0" tIns="0" rIns="0" bIns="0" rtlCol="0" anchor="ctr"/>
          <a:lstStyle/>
          <a:p>
            <a:pPr marL="0" indent="0">
              <a:buNone/>
            </a:pPr>
            <a:r>
              <a:rPr lang="en-US" sz="750" b="1" kern="0" spc="150" dirty="0">
                <a:solidFill>
                  <a:srgbClr val="0EA5E9"/>
                </a:solidFill>
                <a:latin typeface="Calibri" pitchFamily="34" charset="0"/>
                <a:ea typeface="Calibri" pitchFamily="34" charset="-122"/>
                <a:cs typeface="Calibri" pitchFamily="34" charset="-120"/>
              </a:rPr>
              <a:t>EXAMPLE</a:t>
            </a:r>
            <a:endParaRPr lang="en-US" sz="750" dirty="0"/>
          </a:p>
        </p:txBody>
      </p:sp>
      <p:sp>
        <p:nvSpPr>
          <p:cNvPr id="14" name="Text 11"/>
          <p:cNvSpPr/>
          <p:nvPr/>
        </p:nvSpPr>
        <p:spPr>
          <a:xfrm>
            <a:off x="474009" y="2087186"/>
            <a:ext cx="3803904" cy="692052"/>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"Translate this paragraph to French: [text]"</a:t>
            </a:r>
            <a:endParaRPr lang="en-US" sz="900" dirty="0"/>
          </a:p>
        </p:txBody>
      </p:sp>
      <p:sp>
        <p:nvSpPr>
          <p:cNvPr id="15" name="Shape 12"/>
          <p:cNvSpPr/>
          <p:nvPr/>
        </p:nvSpPr>
        <p:spPr>
          <a:xfrm>
            <a:off x="4681728" y="1097280"/>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16" name="Shape 13"/>
          <p:cNvSpPr/>
          <p:nvPr/>
        </p:nvSpPr>
        <p:spPr>
          <a:xfrm>
            <a:off x="4681728" y="1097280"/>
            <a:ext cx="54864" cy="1993392"/>
          </a:xfrm>
          <a:prstGeom prst="rect">
            <a:avLst/>
          </a:prstGeom>
          <a:solidFill>
            <a:srgbClr val="0284C7"/>
          </a:solidFill>
          <a:ln/>
        </p:spPr>
      </p:sp>
      <p:sp>
        <p:nvSpPr>
          <p:cNvPr id="17" name="Text 14"/>
          <p:cNvSpPr/>
          <p:nvPr/>
        </p:nvSpPr>
        <p:spPr>
          <a:xfrm>
            <a:off x="8266176" y="1179576"/>
            <a:ext cx="530352" cy="219456"/>
          </a:xfrm>
          <a:prstGeom prst="rect">
            <a:avLst/>
          </a:prstGeom>
          <a:noFill/>
          <a:ln/>
        </p:spPr>
        <p:txBody>
          <a:bodyPr wrap="square" lIns="0" tIns="0" rIns="0" bIns="0" rtlCol="0" anchor="ctr"/>
          <a:lstStyle/>
          <a:p>
            <a:pPr marL="0" indent="0" algn="r">
              <a:buNone/>
            </a:pPr>
            <a:r>
              <a:rPr lang="en-US" sz="1050" b="1" dirty="0">
                <a:solidFill>
                  <a:srgbClr val="0284C7"/>
                </a:solidFill>
              </a:rPr>
              <a:t>02</a:t>
            </a:r>
            <a:endParaRPr lang="en-US" sz="1050" dirty="0"/>
          </a:p>
        </p:txBody>
      </p:sp>
      <p:pic>
        <p:nvPicPr>
          <p:cNvPr id="18" name="Image 1" descr="preencoded.png"/>
          <p:cNvPicPr>
            <a:picLocks noChangeAspect="1"/>
          </p:cNvPicPr>
          <p:nvPr/>
        </p:nvPicPr>
        <p:blipFill>
          <a:blip r:embed="rId4"/>
          <a:stretch>
            <a:fillRect/>
          </a:stretch>
        </p:blipFill>
        <p:spPr>
          <a:xfrm>
            <a:off x="4846320" y="1207008"/>
            <a:ext cx="292608" cy="292608"/>
          </a:xfrm>
          <a:prstGeom prst="rect">
            <a:avLst/>
          </a:prstGeom>
        </p:spPr>
      </p:pic>
      <p:sp>
        <p:nvSpPr>
          <p:cNvPr id="19" name="Text 15"/>
          <p:cNvSpPr/>
          <p:nvPr/>
        </p:nvSpPr>
        <p:spPr>
          <a:xfrm>
            <a:off x="4828032" y="1554480"/>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One-Shot Prompting</a:t>
            </a:r>
            <a:endParaRPr lang="en-US" sz="1250" dirty="0"/>
          </a:p>
        </p:txBody>
      </p:sp>
      <p:sp>
        <p:nvSpPr>
          <p:cNvPr id="21" name="Shape 17"/>
          <p:cNvSpPr/>
          <p:nvPr/>
        </p:nvSpPr>
        <p:spPr>
          <a:xfrm>
            <a:off x="4809744" y="1852400"/>
            <a:ext cx="3986784" cy="1165120"/>
          </a:xfrm>
          <a:prstGeom prst="rect">
            <a:avLst/>
          </a:prstGeom>
          <a:solidFill>
            <a:srgbClr val="F1F5F9"/>
          </a:solidFill>
          <a:ln w="6350">
            <a:solidFill>
              <a:srgbClr val="E2E8F0"/>
            </a:solidFill>
            <a:prstDash val="solid"/>
          </a:ln>
        </p:spPr>
      </p:sp>
      <p:sp>
        <p:nvSpPr>
          <p:cNvPr id="22" name="Text 18"/>
          <p:cNvSpPr/>
          <p:nvPr/>
        </p:nvSpPr>
        <p:spPr>
          <a:xfrm>
            <a:off x="4882896" y="1856098"/>
            <a:ext cx="777240" cy="289179"/>
          </a:xfrm>
          <a:prstGeom prst="rect">
            <a:avLst/>
          </a:prstGeom>
          <a:noFill/>
          <a:ln/>
        </p:spPr>
        <p:txBody>
          <a:bodyPr wrap="square" lIns="0" tIns="0" rIns="0" bIns="0" rtlCol="0" anchor="ctr"/>
          <a:lstStyle/>
          <a:p>
            <a:pPr marL="0" indent="0">
              <a:buNone/>
            </a:pPr>
            <a:r>
              <a:rPr lang="en-US" sz="750" b="1" kern="0" spc="150" dirty="0">
                <a:solidFill>
                  <a:srgbClr val="0284C7"/>
                </a:solidFill>
                <a:latin typeface="Calibri" pitchFamily="34" charset="0"/>
                <a:ea typeface="Calibri" pitchFamily="34" charset="-122"/>
                <a:cs typeface="Calibri" pitchFamily="34" charset="-120"/>
              </a:rPr>
              <a:t>EXAMPLE</a:t>
            </a:r>
            <a:endParaRPr lang="en-US" sz="750" dirty="0"/>
          </a:p>
        </p:txBody>
      </p:sp>
      <p:sp>
        <p:nvSpPr>
          <p:cNvPr id="23" name="Text 19"/>
          <p:cNvSpPr/>
          <p:nvPr/>
        </p:nvSpPr>
        <p:spPr>
          <a:xfrm>
            <a:off x="4882896" y="2087186"/>
            <a:ext cx="3803904" cy="692052"/>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"Bug report: App crashes on login → Label: Critical</a:t>
            </a:r>
            <a:endParaRPr lang="en-US" sz="900" dirty="0"/>
          </a:p>
          <a:p>
            <a:pPr marL="0" indent="0">
              <a:buNone/>
            </a:pPr>
            <a:r>
              <a:rPr lang="en-US" sz="900" i="1" dirty="0">
                <a:solidFill>
                  <a:srgbClr val="1E293B"/>
                </a:solidFill>
                <a:latin typeface="Calibri" pitchFamily="34" charset="0"/>
                <a:ea typeface="Calibri" pitchFamily="34" charset="-122"/>
                <a:cs typeface="Calibri" pitchFamily="34" charset="-120"/>
              </a:rPr>
              <a:t>Bug report: Button misaligned → Label: ___"</a:t>
            </a:r>
            <a:endParaRPr lang="en-US" sz="900" dirty="0"/>
          </a:p>
        </p:txBody>
      </p:sp>
      <p:sp>
        <p:nvSpPr>
          <p:cNvPr id="24" name="Shape 20"/>
          <p:cNvSpPr/>
          <p:nvPr/>
        </p:nvSpPr>
        <p:spPr>
          <a:xfrm>
            <a:off x="256032" y="3136392"/>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25" name="Shape 21"/>
          <p:cNvSpPr/>
          <p:nvPr/>
        </p:nvSpPr>
        <p:spPr>
          <a:xfrm>
            <a:off x="256032" y="3136392"/>
            <a:ext cx="54864" cy="1993392"/>
          </a:xfrm>
          <a:prstGeom prst="rect">
            <a:avLst/>
          </a:prstGeom>
          <a:solidFill>
            <a:srgbClr val="7C3AED"/>
          </a:solidFill>
          <a:ln/>
        </p:spPr>
      </p:sp>
      <p:sp>
        <p:nvSpPr>
          <p:cNvPr id="26" name="Text 22"/>
          <p:cNvSpPr/>
          <p:nvPr/>
        </p:nvSpPr>
        <p:spPr>
          <a:xfrm>
            <a:off x="3840480" y="3218688"/>
            <a:ext cx="530352" cy="219456"/>
          </a:xfrm>
          <a:prstGeom prst="rect">
            <a:avLst/>
          </a:prstGeom>
          <a:noFill/>
          <a:ln/>
        </p:spPr>
        <p:txBody>
          <a:bodyPr wrap="square" lIns="0" tIns="0" rIns="0" bIns="0" rtlCol="0" anchor="ctr"/>
          <a:lstStyle/>
          <a:p>
            <a:pPr marL="0" indent="0" algn="r">
              <a:buNone/>
            </a:pPr>
            <a:r>
              <a:rPr lang="en-US" sz="1050" b="1" dirty="0">
                <a:solidFill>
                  <a:srgbClr val="7C3AED"/>
                </a:solidFill>
              </a:rPr>
              <a:t>03</a:t>
            </a:r>
            <a:endParaRPr lang="en-US" sz="1050" dirty="0"/>
          </a:p>
        </p:txBody>
      </p:sp>
      <p:pic>
        <p:nvPicPr>
          <p:cNvPr id="27" name="Image 2" descr="preencoded.png"/>
          <p:cNvPicPr>
            <a:picLocks noChangeAspect="1"/>
          </p:cNvPicPr>
          <p:nvPr/>
        </p:nvPicPr>
        <p:blipFill>
          <a:blip r:embed="rId5"/>
          <a:stretch>
            <a:fillRect/>
          </a:stretch>
        </p:blipFill>
        <p:spPr>
          <a:xfrm>
            <a:off x="420624" y="3246120"/>
            <a:ext cx="292608" cy="292608"/>
          </a:xfrm>
          <a:prstGeom prst="rect">
            <a:avLst/>
          </a:prstGeom>
        </p:spPr>
      </p:pic>
      <p:sp>
        <p:nvSpPr>
          <p:cNvPr id="28" name="Text 23"/>
          <p:cNvSpPr/>
          <p:nvPr/>
        </p:nvSpPr>
        <p:spPr>
          <a:xfrm>
            <a:off x="402336" y="3593592"/>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Few-Shot Prompting</a:t>
            </a:r>
            <a:endParaRPr lang="en-US" sz="1250" dirty="0"/>
          </a:p>
        </p:txBody>
      </p:sp>
      <p:sp>
        <p:nvSpPr>
          <p:cNvPr id="30" name="Shape 25"/>
          <p:cNvSpPr/>
          <p:nvPr/>
        </p:nvSpPr>
        <p:spPr>
          <a:xfrm>
            <a:off x="384048" y="3891512"/>
            <a:ext cx="3986784" cy="1165120"/>
          </a:xfrm>
          <a:prstGeom prst="rect">
            <a:avLst/>
          </a:prstGeom>
          <a:solidFill>
            <a:srgbClr val="F1F5F9"/>
          </a:solidFill>
          <a:ln w="6350">
            <a:solidFill>
              <a:srgbClr val="E2E8F0"/>
            </a:solidFill>
            <a:prstDash val="solid"/>
          </a:ln>
        </p:spPr>
      </p:sp>
      <p:sp>
        <p:nvSpPr>
          <p:cNvPr id="31" name="Text 26"/>
          <p:cNvSpPr/>
          <p:nvPr/>
        </p:nvSpPr>
        <p:spPr>
          <a:xfrm>
            <a:off x="423582" y="3895210"/>
            <a:ext cx="777240" cy="297583"/>
          </a:xfrm>
          <a:prstGeom prst="rect">
            <a:avLst/>
          </a:prstGeom>
          <a:noFill/>
          <a:ln/>
        </p:spPr>
        <p:txBody>
          <a:bodyPr wrap="square" lIns="0" tIns="0" rIns="0" bIns="0" rtlCol="0" anchor="ctr"/>
          <a:lstStyle/>
          <a:p>
            <a:pPr marL="0" indent="0">
              <a:buNone/>
            </a:pPr>
            <a:r>
              <a:rPr lang="en-US" sz="750" b="1" kern="0" spc="150" dirty="0">
                <a:solidFill>
                  <a:srgbClr val="7C3AED"/>
                </a:solidFill>
                <a:latin typeface="Calibri" pitchFamily="34" charset="0"/>
                <a:ea typeface="Calibri" pitchFamily="34" charset="-122"/>
                <a:cs typeface="Calibri" pitchFamily="34" charset="-120"/>
              </a:rPr>
              <a:t>EXAMPLE</a:t>
            </a:r>
            <a:endParaRPr lang="en-US" sz="750" dirty="0"/>
          </a:p>
        </p:txBody>
      </p:sp>
      <p:sp>
        <p:nvSpPr>
          <p:cNvPr id="32" name="Text 27"/>
          <p:cNvSpPr/>
          <p:nvPr/>
        </p:nvSpPr>
        <p:spPr>
          <a:xfrm>
            <a:off x="457200" y="4134702"/>
            <a:ext cx="3803904" cy="683648"/>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"Positive: Great product! → Sentiment: Positive</a:t>
            </a:r>
            <a:endParaRPr lang="en-US" sz="900" dirty="0"/>
          </a:p>
          <a:p>
            <a:pPr marL="0" indent="0">
              <a:buNone/>
            </a:pPr>
            <a:r>
              <a:rPr lang="en-US" sz="900" i="1" dirty="0">
                <a:solidFill>
                  <a:srgbClr val="1E293B"/>
                </a:solidFill>
                <a:latin typeface="Calibri" pitchFamily="34" charset="0"/>
                <a:ea typeface="Calibri" pitchFamily="34" charset="-122"/>
                <a:cs typeface="Calibri" pitchFamily="34" charset="-120"/>
              </a:rPr>
              <a:t>Negative: Worst ever. → Sentiment: Negative</a:t>
            </a:r>
            <a:endParaRPr lang="en-US" sz="900" dirty="0"/>
          </a:p>
          <a:p>
            <a:pPr marL="0" indent="0">
              <a:buNone/>
            </a:pPr>
            <a:r>
              <a:rPr lang="en-US" sz="900" i="1" dirty="0">
                <a:solidFill>
                  <a:srgbClr val="1E293B"/>
                </a:solidFill>
                <a:latin typeface="Calibri" pitchFamily="34" charset="0"/>
                <a:ea typeface="Calibri" pitchFamily="34" charset="-122"/>
                <a:cs typeface="Calibri" pitchFamily="34" charset="-120"/>
              </a:rPr>
              <a:t>Neutral: It is okay. → Sentiment: ___"</a:t>
            </a:r>
            <a:endParaRPr lang="en-US" sz="900" dirty="0"/>
          </a:p>
        </p:txBody>
      </p:sp>
      <p:sp>
        <p:nvSpPr>
          <p:cNvPr id="33" name="Shape 28"/>
          <p:cNvSpPr/>
          <p:nvPr/>
        </p:nvSpPr>
        <p:spPr>
          <a:xfrm>
            <a:off x="4681728" y="3136392"/>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34" name="Shape 29"/>
          <p:cNvSpPr/>
          <p:nvPr/>
        </p:nvSpPr>
        <p:spPr>
          <a:xfrm>
            <a:off x="4681728" y="3136392"/>
            <a:ext cx="54864" cy="1993392"/>
          </a:xfrm>
          <a:prstGeom prst="rect">
            <a:avLst/>
          </a:prstGeom>
          <a:solidFill>
            <a:srgbClr val="4F46E5"/>
          </a:solidFill>
          <a:ln/>
        </p:spPr>
      </p:sp>
      <p:sp>
        <p:nvSpPr>
          <p:cNvPr id="35" name="Text 30"/>
          <p:cNvSpPr/>
          <p:nvPr/>
        </p:nvSpPr>
        <p:spPr>
          <a:xfrm>
            <a:off x="8266176" y="3218688"/>
            <a:ext cx="530352" cy="219456"/>
          </a:xfrm>
          <a:prstGeom prst="rect">
            <a:avLst/>
          </a:prstGeom>
          <a:noFill/>
          <a:ln/>
        </p:spPr>
        <p:txBody>
          <a:bodyPr wrap="square" lIns="0" tIns="0" rIns="0" bIns="0" rtlCol="0" anchor="ctr"/>
          <a:lstStyle/>
          <a:p>
            <a:pPr marL="0" indent="0" algn="r">
              <a:buNone/>
            </a:pPr>
            <a:r>
              <a:rPr lang="en-US" sz="1050" b="1" dirty="0">
                <a:solidFill>
                  <a:srgbClr val="4F46E5"/>
                </a:solidFill>
              </a:rPr>
              <a:t>04</a:t>
            </a:r>
            <a:endParaRPr lang="en-US" sz="1050" dirty="0"/>
          </a:p>
        </p:txBody>
      </p:sp>
      <p:pic>
        <p:nvPicPr>
          <p:cNvPr id="36" name="Image 3" descr="preencoded.png"/>
          <p:cNvPicPr>
            <a:picLocks noChangeAspect="1"/>
          </p:cNvPicPr>
          <p:nvPr/>
        </p:nvPicPr>
        <p:blipFill>
          <a:blip r:embed="rId6"/>
          <a:stretch>
            <a:fillRect/>
          </a:stretch>
        </p:blipFill>
        <p:spPr>
          <a:xfrm>
            <a:off x="4846320" y="3246120"/>
            <a:ext cx="292608" cy="292608"/>
          </a:xfrm>
          <a:prstGeom prst="rect">
            <a:avLst/>
          </a:prstGeom>
        </p:spPr>
      </p:pic>
      <p:sp>
        <p:nvSpPr>
          <p:cNvPr id="37" name="Text 31"/>
          <p:cNvSpPr/>
          <p:nvPr/>
        </p:nvSpPr>
        <p:spPr>
          <a:xfrm>
            <a:off x="4828032" y="3593592"/>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Role Prompting</a:t>
            </a:r>
            <a:endParaRPr lang="en-US" sz="1250" dirty="0"/>
          </a:p>
        </p:txBody>
      </p:sp>
      <p:sp>
        <p:nvSpPr>
          <p:cNvPr id="39" name="Shape 33"/>
          <p:cNvSpPr/>
          <p:nvPr/>
        </p:nvSpPr>
        <p:spPr>
          <a:xfrm>
            <a:off x="4809744" y="3891512"/>
            <a:ext cx="3986784" cy="1165120"/>
          </a:xfrm>
          <a:prstGeom prst="rect">
            <a:avLst/>
          </a:prstGeom>
          <a:solidFill>
            <a:srgbClr val="F1F5F9"/>
          </a:solidFill>
          <a:ln w="6350">
            <a:solidFill>
              <a:srgbClr val="E2E8F0"/>
            </a:solidFill>
            <a:prstDash val="solid"/>
          </a:ln>
        </p:spPr>
      </p:sp>
      <p:sp>
        <p:nvSpPr>
          <p:cNvPr id="40" name="Text 34"/>
          <p:cNvSpPr/>
          <p:nvPr/>
        </p:nvSpPr>
        <p:spPr>
          <a:xfrm>
            <a:off x="4849278" y="3895210"/>
            <a:ext cx="777240" cy="297583"/>
          </a:xfrm>
          <a:prstGeom prst="rect">
            <a:avLst/>
          </a:prstGeom>
          <a:noFill/>
          <a:ln/>
        </p:spPr>
        <p:txBody>
          <a:bodyPr wrap="square" lIns="0" tIns="0" rIns="0" bIns="0" rtlCol="0" anchor="ctr"/>
          <a:lstStyle/>
          <a:p>
            <a:pPr marL="0" indent="0">
              <a:buNone/>
            </a:pPr>
            <a:r>
              <a:rPr lang="en-US" sz="750" b="1" kern="0" spc="150" dirty="0">
                <a:solidFill>
                  <a:srgbClr val="4F46E5"/>
                </a:solidFill>
                <a:latin typeface="Calibri" pitchFamily="34" charset="0"/>
                <a:ea typeface="Calibri" pitchFamily="34" charset="-122"/>
                <a:cs typeface="Calibri" pitchFamily="34" charset="-120"/>
              </a:rPr>
              <a:t>EXAMPLE</a:t>
            </a:r>
            <a:endParaRPr lang="en-US" sz="750" dirty="0"/>
          </a:p>
        </p:txBody>
      </p:sp>
      <p:sp>
        <p:nvSpPr>
          <p:cNvPr id="41" name="Text 35"/>
          <p:cNvSpPr/>
          <p:nvPr/>
        </p:nvSpPr>
        <p:spPr>
          <a:xfrm>
            <a:off x="4882896" y="4134702"/>
            <a:ext cx="3803904" cy="683648"/>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"Act as a senior cybersecurity analyst. Review this code for vulnerabilities and explain the risks to a non-technical CEO."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p:spPr>
      </p:sp>
      <p:sp>
        <p:nvSpPr>
          <p:cNvPr id="3" name="Text 1"/>
          <p:cNvSpPr/>
          <p:nvPr/>
        </p:nvSpPr>
        <p:spPr>
          <a:xfrm>
            <a:off x="274320" y="155448"/>
            <a:ext cx="8503920" cy="228600"/>
          </a:xfrm>
          <a:prstGeom prst="rect">
            <a:avLst/>
          </a:prstGeom>
          <a:noFill/>
          <a:ln/>
        </p:spPr>
        <p:txBody>
          <a:bodyPr wrap="square" lIns="0" tIns="0" rIns="0" bIns="0" rtlCol="0" anchor="ctr"/>
          <a:lstStyle/>
          <a:p>
            <a:pPr marL="0" indent="0">
              <a:buNone/>
            </a:pPr>
            <a:r>
              <a:rPr lang="en-US" sz="850" b="1" kern="0" spc="300" dirty="0">
                <a:solidFill>
                  <a:srgbClr val="7C3AED"/>
                </a:solidFill>
                <a:latin typeface="Calibri" pitchFamily="34" charset="0"/>
                <a:ea typeface="Calibri" pitchFamily="34" charset="-122"/>
                <a:cs typeface="Calibri" pitchFamily="34" charset="-120"/>
              </a:rPr>
              <a:t>TECHNIQUES 05–08  ·  MAKE THE MODEL SHOW ITS WORK BEFORE ANSWERING</a:t>
            </a:r>
            <a:endParaRPr lang="en-US" sz="850" dirty="0"/>
          </a:p>
        </p:txBody>
      </p:sp>
      <p:sp>
        <p:nvSpPr>
          <p:cNvPr id="4" name="Text 2"/>
          <p:cNvSpPr/>
          <p:nvPr/>
        </p:nvSpPr>
        <p:spPr>
          <a:xfrm>
            <a:off x="274320" y="365760"/>
            <a:ext cx="8503920" cy="594360"/>
          </a:xfrm>
          <a:prstGeom prst="rect">
            <a:avLst/>
          </a:prstGeom>
          <a:noFill/>
          <a:ln/>
        </p:spPr>
        <p:txBody>
          <a:bodyPr wrap="square" lIns="0" tIns="0" rIns="0" bIns="0" rtlCol="0" anchor="ctr"/>
          <a:lstStyle/>
          <a:p>
            <a:pPr marL="0" indent="0">
              <a:buNone/>
            </a:pPr>
            <a:r>
              <a:rPr lang="en-US" sz="2600" b="1" dirty="0">
                <a:solidFill>
                  <a:srgbClr val="0F172A"/>
                </a:solidFill>
                <a:latin typeface="Arial Black" pitchFamily="34" charset="0"/>
                <a:ea typeface="Arial Black" pitchFamily="34" charset="-122"/>
                <a:cs typeface="Arial Black" pitchFamily="34" charset="-120"/>
              </a:rPr>
              <a:t>Reasoning-Based Prompting</a:t>
            </a:r>
            <a:endParaRPr lang="en-US" sz="2600" dirty="0"/>
          </a:p>
        </p:txBody>
      </p:sp>
      <p:sp>
        <p:nvSpPr>
          <p:cNvPr id="5" name="Shape 3"/>
          <p:cNvSpPr/>
          <p:nvPr/>
        </p:nvSpPr>
        <p:spPr>
          <a:xfrm>
            <a:off x="274320" y="987552"/>
            <a:ext cx="8595360" cy="16459"/>
          </a:xfrm>
          <a:prstGeom prst="rect">
            <a:avLst/>
          </a:prstGeom>
          <a:solidFill>
            <a:srgbClr val="E2E8F0"/>
          </a:solidFill>
          <a:ln/>
        </p:spPr>
      </p:sp>
      <p:sp>
        <p:nvSpPr>
          <p:cNvPr id="6" name="Shape 4"/>
          <p:cNvSpPr/>
          <p:nvPr/>
        </p:nvSpPr>
        <p:spPr>
          <a:xfrm>
            <a:off x="256032" y="1097280"/>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7" name="Shape 5"/>
          <p:cNvSpPr/>
          <p:nvPr/>
        </p:nvSpPr>
        <p:spPr>
          <a:xfrm>
            <a:off x="256032" y="1097280"/>
            <a:ext cx="54864" cy="1993392"/>
          </a:xfrm>
          <a:prstGeom prst="rect">
            <a:avLst/>
          </a:prstGeom>
          <a:solidFill>
            <a:srgbClr val="7C3AED"/>
          </a:solidFill>
          <a:ln/>
        </p:spPr>
      </p:sp>
      <p:sp>
        <p:nvSpPr>
          <p:cNvPr id="8" name="Text 6"/>
          <p:cNvSpPr/>
          <p:nvPr/>
        </p:nvSpPr>
        <p:spPr>
          <a:xfrm>
            <a:off x="3840480" y="1179576"/>
            <a:ext cx="530352" cy="219456"/>
          </a:xfrm>
          <a:prstGeom prst="rect">
            <a:avLst/>
          </a:prstGeom>
          <a:noFill/>
          <a:ln/>
        </p:spPr>
        <p:txBody>
          <a:bodyPr wrap="square" lIns="0" tIns="0" rIns="0" bIns="0" rtlCol="0" anchor="ctr"/>
          <a:lstStyle/>
          <a:p>
            <a:pPr marL="0" indent="0" algn="r">
              <a:buNone/>
            </a:pPr>
            <a:r>
              <a:rPr lang="en-US" sz="1050" b="1" dirty="0">
                <a:solidFill>
                  <a:srgbClr val="7C3AED"/>
                </a:solidFill>
              </a:rPr>
              <a:t>05</a:t>
            </a:r>
            <a:endParaRPr lang="en-US" sz="1050" dirty="0"/>
          </a:p>
        </p:txBody>
      </p:sp>
      <p:pic>
        <p:nvPicPr>
          <p:cNvPr id="9" name="Image 0" descr="preencoded.png"/>
          <p:cNvPicPr>
            <a:picLocks noChangeAspect="1"/>
          </p:cNvPicPr>
          <p:nvPr/>
        </p:nvPicPr>
        <p:blipFill>
          <a:blip r:embed="rId3"/>
          <a:stretch>
            <a:fillRect/>
          </a:stretch>
        </p:blipFill>
        <p:spPr>
          <a:xfrm>
            <a:off x="420624" y="1207008"/>
            <a:ext cx="292608" cy="292608"/>
          </a:xfrm>
          <a:prstGeom prst="rect">
            <a:avLst/>
          </a:prstGeom>
        </p:spPr>
      </p:pic>
      <p:sp>
        <p:nvSpPr>
          <p:cNvPr id="10" name="Text 7"/>
          <p:cNvSpPr/>
          <p:nvPr/>
        </p:nvSpPr>
        <p:spPr>
          <a:xfrm>
            <a:off x="402336" y="1554480"/>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Chain-of-Thought (CoT)</a:t>
            </a:r>
            <a:endParaRPr lang="en-US" sz="1250" dirty="0"/>
          </a:p>
        </p:txBody>
      </p:sp>
      <p:sp>
        <p:nvSpPr>
          <p:cNvPr id="13" name="Text 10"/>
          <p:cNvSpPr/>
          <p:nvPr/>
        </p:nvSpPr>
        <p:spPr>
          <a:xfrm>
            <a:off x="457200" y="2478024"/>
            <a:ext cx="777240" cy="146304"/>
          </a:xfrm>
          <a:prstGeom prst="rect">
            <a:avLst/>
          </a:prstGeom>
          <a:noFill/>
          <a:ln/>
        </p:spPr>
        <p:txBody>
          <a:bodyPr wrap="square" lIns="0" tIns="0" rIns="0" bIns="0" rtlCol="0" anchor="ctr"/>
          <a:lstStyle/>
          <a:p>
            <a:pPr marL="0" indent="0">
              <a:buNone/>
            </a:pPr>
            <a:r>
              <a:rPr lang="en-US" sz="750" b="1" kern="0" spc="150" dirty="0">
                <a:solidFill>
                  <a:srgbClr val="7C3AED"/>
                </a:solidFill>
                <a:latin typeface="Calibri" pitchFamily="34" charset="0"/>
                <a:ea typeface="Calibri" pitchFamily="34" charset="-122"/>
                <a:cs typeface="Calibri" pitchFamily="34" charset="-120"/>
              </a:rPr>
              <a:t>EXAMPLE</a:t>
            </a:r>
            <a:endParaRPr lang="en-US" sz="750" dirty="0"/>
          </a:p>
        </p:txBody>
      </p:sp>
      <p:sp>
        <p:nvSpPr>
          <p:cNvPr id="15" name="Shape 12"/>
          <p:cNvSpPr/>
          <p:nvPr/>
        </p:nvSpPr>
        <p:spPr>
          <a:xfrm>
            <a:off x="4681728" y="1097280"/>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16" name="Shape 13"/>
          <p:cNvSpPr/>
          <p:nvPr/>
        </p:nvSpPr>
        <p:spPr>
          <a:xfrm>
            <a:off x="4681728" y="1097280"/>
            <a:ext cx="54864" cy="1993392"/>
          </a:xfrm>
          <a:prstGeom prst="rect">
            <a:avLst/>
          </a:prstGeom>
          <a:solidFill>
            <a:srgbClr val="6D28D9"/>
          </a:solidFill>
          <a:ln/>
        </p:spPr>
      </p:sp>
      <p:sp>
        <p:nvSpPr>
          <p:cNvPr id="17" name="Text 14"/>
          <p:cNvSpPr/>
          <p:nvPr/>
        </p:nvSpPr>
        <p:spPr>
          <a:xfrm>
            <a:off x="8266176" y="1179576"/>
            <a:ext cx="530352" cy="219456"/>
          </a:xfrm>
          <a:prstGeom prst="rect">
            <a:avLst/>
          </a:prstGeom>
          <a:noFill/>
          <a:ln/>
        </p:spPr>
        <p:txBody>
          <a:bodyPr wrap="square" lIns="0" tIns="0" rIns="0" bIns="0" rtlCol="0" anchor="ctr"/>
          <a:lstStyle/>
          <a:p>
            <a:pPr marL="0" indent="0" algn="r">
              <a:buNone/>
            </a:pPr>
            <a:r>
              <a:rPr lang="en-US" sz="1050" b="1" dirty="0">
                <a:solidFill>
                  <a:srgbClr val="6D28D9"/>
                </a:solidFill>
              </a:rPr>
              <a:t>06</a:t>
            </a:r>
            <a:endParaRPr lang="en-US" sz="1050" dirty="0"/>
          </a:p>
        </p:txBody>
      </p:sp>
      <p:pic>
        <p:nvPicPr>
          <p:cNvPr id="18" name="Image 1" descr="preencoded.png"/>
          <p:cNvPicPr>
            <a:picLocks noChangeAspect="1"/>
          </p:cNvPicPr>
          <p:nvPr/>
        </p:nvPicPr>
        <p:blipFill>
          <a:blip r:embed="rId4"/>
          <a:stretch>
            <a:fillRect/>
          </a:stretch>
        </p:blipFill>
        <p:spPr>
          <a:xfrm>
            <a:off x="4846320" y="1207008"/>
            <a:ext cx="292608" cy="292608"/>
          </a:xfrm>
          <a:prstGeom prst="rect">
            <a:avLst/>
          </a:prstGeom>
        </p:spPr>
      </p:pic>
      <p:sp>
        <p:nvSpPr>
          <p:cNvPr id="19" name="Text 15"/>
          <p:cNvSpPr/>
          <p:nvPr/>
        </p:nvSpPr>
        <p:spPr>
          <a:xfrm>
            <a:off x="4828032" y="1554480"/>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Step-Back Prompting</a:t>
            </a:r>
            <a:endParaRPr lang="en-US" sz="1250" dirty="0"/>
          </a:p>
        </p:txBody>
      </p:sp>
      <p:sp>
        <p:nvSpPr>
          <p:cNvPr id="21" name="Shape 17"/>
          <p:cNvSpPr/>
          <p:nvPr/>
        </p:nvSpPr>
        <p:spPr>
          <a:xfrm>
            <a:off x="4818148" y="1835591"/>
            <a:ext cx="3978380" cy="1173525"/>
          </a:xfrm>
          <a:prstGeom prst="rect">
            <a:avLst/>
          </a:prstGeom>
          <a:solidFill>
            <a:srgbClr val="F1F5F9"/>
          </a:solidFill>
          <a:ln w="6350">
            <a:solidFill>
              <a:srgbClr val="E2E8F0"/>
            </a:solidFill>
            <a:prstDash val="solid"/>
          </a:ln>
        </p:spPr>
      </p:sp>
      <p:sp>
        <p:nvSpPr>
          <p:cNvPr id="22" name="Text 18"/>
          <p:cNvSpPr/>
          <p:nvPr/>
        </p:nvSpPr>
        <p:spPr>
          <a:xfrm>
            <a:off x="4899705" y="1889715"/>
            <a:ext cx="777240" cy="146304"/>
          </a:xfrm>
          <a:prstGeom prst="rect">
            <a:avLst/>
          </a:prstGeom>
          <a:noFill/>
          <a:ln/>
        </p:spPr>
        <p:txBody>
          <a:bodyPr wrap="square" lIns="0" tIns="0" rIns="0" bIns="0" rtlCol="0" anchor="ctr"/>
          <a:lstStyle/>
          <a:p>
            <a:pPr marL="0" indent="0">
              <a:buNone/>
            </a:pPr>
            <a:r>
              <a:rPr lang="en-US" sz="750" b="1" kern="0" spc="150" dirty="0">
                <a:solidFill>
                  <a:srgbClr val="6D28D9"/>
                </a:solidFill>
                <a:latin typeface="Calibri" pitchFamily="34" charset="0"/>
                <a:ea typeface="Calibri" pitchFamily="34" charset="-122"/>
                <a:cs typeface="Calibri" pitchFamily="34" charset="-120"/>
              </a:rPr>
              <a:t>EXAMPLE</a:t>
            </a:r>
            <a:endParaRPr lang="en-US" sz="750" dirty="0"/>
          </a:p>
        </p:txBody>
      </p:sp>
      <p:sp>
        <p:nvSpPr>
          <p:cNvPr id="23" name="Text 19"/>
          <p:cNvSpPr/>
          <p:nvPr/>
        </p:nvSpPr>
        <p:spPr>
          <a:xfrm>
            <a:off x="4924918" y="2036758"/>
            <a:ext cx="3803904" cy="347472"/>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"Before answering, what general principles of negotiation apply here? Now use those to draft my reply."</a:t>
            </a:r>
            <a:endParaRPr lang="en-US" sz="900" dirty="0"/>
          </a:p>
        </p:txBody>
      </p:sp>
      <p:sp>
        <p:nvSpPr>
          <p:cNvPr id="24" name="Shape 20"/>
          <p:cNvSpPr/>
          <p:nvPr/>
        </p:nvSpPr>
        <p:spPr>
          <a:xfrm>
            <a:off x="256032" y="3136392"/>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25" name="Shape 21"/>
          <p:cNvSpPr/>
          <p:nvPr/>
        </p:nvSpPr>
        <p:spPr>
          <a:xfrm>
            <a:off x="256032" y="3136392"/>
            <a:ext cx="54864" cy="1993392"/>
          </a:xfrm>
          <a:prstGeom prst="rect">
            <a:avLst/>
          </a:prstGeom>
          <a:solidFill>
            <a:srgbClr val="4F46E5"/>
          </a:solidFill>
          <a:ln/>
        </p:spPr>
      </p:sp>
      <p:sp>
        <p:nvSpPr>
          <p:cNvPr id="49" name="Shape 9">
            <a:extLst>
              <a:ext uri="{FF2B5EF4-FFF2-40B4-BE49-F238E27FC236}">
                <a16:creationId xmlns:a16="http://schemas.microsoft.com/office/drawing/2014/main" id="{72E6E4DE-3E30-B00B-389E-3DD6D56E9973}"/>
              </a:ext>
            </a:extLst>
          </p:cNvPr>
          <p:cNvSpPr/>
          <p:nvPr/>
        </p:nvSpPr>
        <p:spPr>
          <a:xfrm>
            <a:off x="384047" y="1835591"/>
            <a:ext cx="3986784" cy="1165120"/>
          </a:xfrm>
          <a:prstGeom prst="rect">
            <a:avLst/>
          </a:prstGeom>
          <a:solidFill>
            <a:srgbClr val="F1F5F9"/>
          </a:solidFill>
          <a:ln w="6350">
            <a:solidFill>
              <a:srgbClr val="E2E8F0"/>
            </a:solidFill>
            <a:prstDash val="solid"/>
          </a:ln>
        </p:spPr>
      </p:sp>
      <p:sp>
        <p:nvSpPr>
          <p:cNvPr id="26" name="Text 22"/>
          <p:cNvSpPr/>
          <p:nvPr/>
        </p:nvSpPr>
        <p:spPr>
          <a:xfrm>
            <a:off x="3840480" y="3218688"/>
            <a:ext cx="530352" cy="219456"/>
          </a:xfrm>
          <a:prstGeom prst="rect">
            <a:avLst/>
          </a:prstGeom>
          <a:noFill/>
          <a:ln/>
        </p:spPr>
        <p:txBody>
          <a:bodyPr wrap="square" lIns="0" tIns="0" rIns="0" bIns="0" rtlCol="0" anchor="ctr"/>
          <a:lstStyle/>
          <a:p>
            <a:pPr marL="0" indent="0" algn="r">
              <a:buNone/>
            </a:pPr>
            <a:r>
              <a:rPr lang="en-US" sz="1050" b="1" dirty="0">
                <a:solidFill>
                  <a:srgbClr val="4F46E5"/>
                </a:solidFill>
              </a:rPr>
              <a:t>07</a:t>
            </a:r>
            <a:endParaRPr lang="en-US" sz="1050" dirty="0"/>
          </a:p>
        </p:txBody>
      </p:sp>
      <p:pic>
        <p:nvPicPr>
          <p:cNvPr id="27" name="Image 2" descr="preencoded.png"/>
          <p:cNvPicPr>
            <a:picLocks noChangeAspect="1"/>
          </p:cNvPicPr>
          <p:nvPr/>
        </p:nvPicPr>
        <p:blipFill>
          <a:blip r:embed="rId5"/>
          <a:stretch>
            <a:fillRect/>
          </a:stretch>
        </p:blipFill>
        <p:spPr>
          <a:xfrm>
            <a:off x="420624" y="3246120"/>
            <a:ext cx="292608" cy="292608"/>
          </a:xfrm>
          <a:prstGeom prst="rect">
            <a:avLst/>
          </a:prstGeom>
        </p:spPr>
      </p:pic>
      <p:sp>
        <p:nvSpPr>
          <p:cNvPr id="28" name="Text 23"/>
          <p:cNvSpPr/>
          <p:nvPr/>
        </p:nvSpPr>
        <p:spPr>
          <a:xfrm>
            <a:off x="402336" y="3593592"/>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Self-Consistency</a:t>
            </a:r>
            <a:endParaRPr lang="en-US" sz="1250" dirty="0"/>
          </a:p>
        </p:txBody>
      </p:sp>
      <p:sp>
        <p:nvSpPr>
          <p:cNvPr id="30" name="Shape 25"/>
          <p:cNvSpPr/>
          <p:nvPr/>
        </p:nvSpPr>
        <p:spPr>
          <a:xfrm>
            <a:off x="392452" y="3857894"/>
            <a:ext cx="3978380" cy="1198738"/>
          </a:xfrm>
          <a:prstGeom prst="rect">
            <a:avLst/>
          </a:prstGeom>
          <a:solidFill>
            <a:srgbClr val="F1F5F9"/>
          </a:solidFill>
          <a:ln w="6350">
            <a:solidFill>
              <a:srgbClr val="E2E8F0"/>
            </a:solidFill>
            <a:prstDash val="solid"/>
          </a:ln>
        </p:spPr>
      </p:sp>
      <p:sp>
        <p:nvSpPr>
          <p:cNvPr id="31" name="Text 26"/>
          <p:cNvSpPr/>
          <p:nvPr/>
        </p:nvSpPr>
        <p:spPr>
          <a:xfrm>
            <a:off x="474009" y="3928827"/>
            <a:ext cx="777240" cy="146304"/>
          </a:xfrm>
          <a:prstGeom prst="rect">
            <a:avLst/>
          </a:prstGeom>
          <a:noFill/>
          <a:ln/>
        </p:spPr>
        <p:txBody>
          <a:bodyPr wrap="square" lIns="0" tIns="0" rIns="0" bIns="0" rtlCol="0" anchor="ctr"/>
          <a:lstStyle/>
          <a:p>
            <a:pPr marL="0" indent="0">
              <a:buNone/>
            </a:pPr>
            <a:r>
              <a:rPr lang="en-US" sz="750" b="1" kern="0" spc="150" dirty="0">
                <a:solidFill>
                  <a:srgbClr val="4F46E5"/>
                </a:solidFill>
                <a:latin typeface="Calibri" pitchFamily="34" charset="0"/>
                <a:ea typeface="Calibri" pitchFamily="34" charset="-122"/>
                <a:cs typeface="Calibri" pitchFamily="34" charset="-120"/>
              </a:rPr>
              <a:t>EXAMPLE</a:t>
            </a:r>
            <a:endParaRPr lang="en-US" sz="750" dirty="0"/>
          </a:p>
        </p:txBody>
      </p:sp>
      <p:sp>
        <p:nvSpPr>
          <p:cNvPr id="32" name="Text 27"/>
          <p:cNvSpPr/>
          <p:nvPr/>
        </p:nvSpPr>
        <p:spPr>
          <a:xfrm>
            <a:off x="482413" y="4084275"/>
            <a:ext cx="3803904" cy="347472"/>
          </a:xfrm>
          <a:prstGeom prst="rect">
            <a:avLst/>
          </a:prstGeom>
          <a:noFill/>
          <a:ln/>
        </p:spPr>
        <p:txBody>
          <a:bodyPr wrap="square" lIns="0" tIns="0" rIns="0" bIns="0" rtlCol="0" anchor="t"/>
          <a:lstStyle/>
          <a:p>
            <a:r>
              <a:rPr lang="en-US" sz="900" i="1">
                <a:solidFill>
                  <a:srgbClr val="1E293B"/>
                </a:solidFill>
                <a:latin typeface="Calibri"/>
                <a:ea typeface="Calibri"/>
                <a:cs typeface="Calibri"/>
              </a:rPr>
              <a:t>"Solve this in 3 different ways, then identify which answer appears most often across </a:t>
            </a:r>
            <a:r>
              <a:rPr lang="en-US" sz="900" i="1" dirty="0">
                <a:solidFill>
                  <a:srgbClr val="1E293B"/>
                </a:solidFill>
                <a:latin typeface="Calibri"/>
                <a:ea typeface="Calibri"/>
                <a:cs typeface="Calibri"/>
              </a:rPr>
              <a:t>your solutions."</a:t>
            </a:r>
            <a:endParaRPr lang="en-US" sz="900" dirty="0">
              <a:latin typeface="Calibri"/>
              <a:ea typeface="Calibri"/>
              <a:cs typeface="Calibri"/>
            </a:endParaRPr>
          </a:p>
        </p:txBody>
      </p:sp>
      <p:sp>
        <p:nvSpPr>
          <p:cNvPr id="33" name="Shape 28"/>
          <p:cNvSpPr/>
          <p:nvPr/>
        </p:nvSpPr>
        <p:spPr>
          <a:xfrm>
            <a:off x="4681728" y="3136392"/>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34" name="Shape 29"/>
          <p:cNvSpPr/>
          <p:nvPr/>
        </p:nvSpPr>
        <p:spPr>
          <a:xfrm>
            <a:off x="4681728" y="3136392"/>
            <a:ext cx="54864" cy="1993392"/>
          </a:xfrm>
          <a:prstGeom prst="rect">
            <a:avLst/>
          </a:prstGeom>
          <a:solidFill>
            <a:srgbClr val="4338CA"/>
          </a:solidFill>
          <a:ln/>
        </p:spPr>
      </p:sp>
      <p:sp>
        <p:nvSpPr>
          <p:cNvPr id="35" name="Text 30"/>
          <p:cNvSpPr/>
          <p:nvPr/>
        </p:nvSpPr>
        <p:spPr>
          <a:xfrm>
            <a:off x="8266176" y="3218688"/>
            <a:ext cx="530352" cy="219456"/>
          </a:xfrm>
          <a:prstGeom prst="rect">
            <a:avLst/>
          </a:prstGeom>
          <a:noFill/>
          <a:ln/>
        </p:spPr>
        <p:txBody>
          <a:bodyPr wrap="square" lIns="0" tIns="0" rIns="0" bIns="0" rtlCol="0" anchor="ctr"/>
          <a:lstStyle/>
          <a:p>
            <a:pPr marL="0" indent="0" algn="r">
              <a:buNone/>
            </a:pPr>
            <a:r>
              <a:rPr lang="en-US" sz="1050" b="1" dirty="0">
                <a:solidFill>
                  <a:srgbClr val="4338CA"/>
                </a:solidFill>
              </a:rPr>
              <a:t>08</a:t>
            </a:r>
            <a:endParaRPr lang="en-US" sz="1050" dirty="0"/>
          </a:p>
        </p:txBody>
      </p:sp>
      <p:pic>
        <p:nvPicPr>
          <p:cNvPr id="36" name="Image 3" descr="preencoded.png"/>
          <p:cNvPicPr>
            <a:picLocks noChangeAspect="1"/>
          </p:cNvPicPr>
          <p:nvPr/>
        </p:nvPicPr>
        <p:blipFill>
          <a:blip r:embed="rId6"/>
          <a:stretch>
            <a:fillRect/>
          </a:stretch>
        </p:blipFill>
        <p:spPr>
          <a:xfrm>
            <a:off x="4846320" y="3246120"/>
            <a:ext cx="292608" cy="292608"/>
          </a:xfrm>
          <a:prstGeom prst="rect">
            <a:avLst/>
          </a:prstGeom>
        </p:spPr>
      </p:pic>
      <p:sp>
        <p:nvSpPr>
          <p:cNvPr id="37" name="Text 31"/>
          <p:cNvSpPr/>
          <p:nvPr/>
        </p:nvSpPr>
        <p:spPr>
          <a:xfrm>
            <a:off x="4828032" y="3593592"/>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Tree-of-Thought  (Advanced)</a:t>
            </a:r>
            <a:endParaRPr lang="en-US" sz="1250" dirty="0"/>
          </a:p>
        </p:txBody>
      </p:sp>
      <p:sp>
        <p:nvSpPr>
          <p:cNvPr id="39" name="Shape 33"/>
          <p:cNvSpPr/>
          <p:nvPr/>
        </p:nvSpPr>
        <p:spPr>
          <a:xfrm>
            <a:off x="4828931" y="3861859"/>
            <a:ext cx="3967597" cy="1200798"/>
          </a:xfrm>
          <a:prstGeom prst="rect">
            <a:avLst/>
          </a:prstGeom>
          <a:solidFill>
            <a:srgbClr val="F1F5F9"/>
          </a:solidFill>
          <a:ln w="6350">
            <a:solidFill>
              <a:srgbClr val="E2E8F0"/>
            </a:solidFill>
            <a:prstDash val="solid"/>
          </a:ln>
        </p:spPr>
      </p:sp>
      <p:sp>
        <p:nvSpPr>
          <p:cNvPr id="40" name="Text 34"/>
          <p:cNvSpPr/>
          <p:nvPr/>
        </p:nvSpPr>
        <p:spPr>
          <a:xfrm>
            <a:off x="4899705" y="3932792"/>
            <a:ext cx="777240" cy="146304"/>
          </a:xfrm>
          <a:prstGeom prst="rect">
            <a:avLst/>
          </a:prstGeom>
          <a:noFill/>
          <a:ln/>
        </p:spPr>
        <p:txBody>
          <a:bodyPr wrap="square" lIns="0" tIns="0" rIns="0" bIns="0" rtlCol="0" anchor="ctr"/>
          <a:lstStyle/>
          <a:p>
            <a:pPr marL="0" indent="0">
              <a:buNone/>
            </a:pPr>
            <a:r>
              <a:rPr lang="en-US" sz="750" b="1" kern="0" spc="150" dirty="0">
                <a:solidFill>
                  <a:srgbClr val="4338CA"/>
                </a:solidFill>
                <a:latin typeface="Calibri" pitchFamily="34" charset="0"/>
                <a:ea typeface="Calibri" pitchFamily="34" charset="-122"/>
                <a:cs typeface="Calibri" pitchFamily="34" charset="-120"/>
              </a:rPr>
              <a:t>EXAMPLE</a:t>
            </a:r>
            <a:endParaRPr lang="en-US" sz="750" dirty="0"/>
          </a:p>
        </p:txBody>
      </p:sp>
      <p:sp>
        <p:nvSpPr>
          <p:cNvPr id="11" name="Text 11">
            <a:extLst>
              <a:ext uri="{FF2B5EF4-FFF2-40B4-BE49-F238E27FC236}">
                <a16:creationId xmlns:a16="http://schemas.microsoft.com/office/drawing/2014/main" id="{89675A21-ADF8-C2EC-D823-2574BB4BA4F4}"/>
              </a:ext>
            </a:extLst>
          </p:cNvPr>
          <p:cNvSpPr/>
          <p:nvPr/>
        </p:nvSpPr>
        <p:spPr>
          <a:xfrm>
            <a:off x="482413" y="2036758"/>
            <a:ext cx="3803904" cy="34747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solidFill>
                  <a:srgbClr val="1E293B"/>
                </a:solidFill>
                <a:ea typeface="+mn-lt"/>
                <a:cs typeface="+mn-lt"/>
              </a:rPr>
              <a:t>If you buy 5 apples and already have 3, and then you eat 2, how many do you </a:t>
            </a:r>
            <a:r>
              <a:rPr lang="en-US" sz="900">
                <a:solidFill>
                  <a:srgbClr val="1E293B"/>
                </a:solidFill>
                <a:ea typeface="+mn-lt"/>
                <a:cs typeface="+mn-lt"/>
              </a:rPr>
              <a:t>have?</a:t>
            </a:r>
            <a:r>
              <a:rPr lang="en-US" sz="900" i="1">
                <a:solidFill>
                  <a:srgbClr val="1E293B"/>
                </a:solidFill>
                <a:latin typeface="Calibri"/>
                <a:ea typeface="Calibri"/>
                <a:cs typeface="Calibri"/>
              </a:rPr>
              <a:t>"</a:t>
            </a:r>
            <a:endParaRPr lang="en-US" sz="900">
              <a:ea typeface="Calibri"/>
              <a:cs typeface="Calibri"/>
            </a:endParaRPr>
          </a:p>
        </p:txBody>
      </p:sp>
      <p:sp>
        <p:nvSpPr>
          <p:cNvPr id="47" name="Text 35">
            <a:extLst>
              <a:ext uri="{FF2B5EF4-FFF2-40B4-BE49-F238E27FC236}">
                <a16:creationId xmlns:a16="http://schemas.microsoft.com/office/drawing/2014/main" id="{496375A1-9BD2-B8F4-7D4A-B92526B992FB}"/>
              </a:ext>
            </a:extLst>
          </p:cNvPr>
          <p:cNvSpPr/>
          <p:nvPr/>
        </p:nvSpPr>
        <p:spPr>
          <a:xfrm>
            <a:off x="4923349" y="4088421"/>
            <a:ext cx="3826764" cy="31699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i="1">
                <a:solidFill>
                  <a:srgbClr val="1E293B"/>
                </a:solidFill>
                <a:latin typeface="Calibri"/>
                <a:ea typeface="Calibri"/>
                <a:cs typeface="Calibri"/>
              </a:rPr>
              <a:t>Imagine three different experts brainstorming a plot for a cyber‑heist thriller.</a:t>
            </a:r>
            <a:br>
              <a:rPr lang="en-US" sz="900" i="1" dirty="0">
                <a:latin typeface="Calibri"/>
                <a:ea typeface="Calibri" pitchFamily="34" charset="-122"/>
                <a:cs typeface="Calibri"/>
              </a:rPr>
            </a:br>
            <a:r>
              <a:rPr lang="en-US" sz="900" i="1">
                <a:solidFill>
                  <a:srgbClr val="1E293B"/>
                </a:solidFill>
                <a:latin typeface="Calibri"/>
                <a:ea typeface="Calibri"/>
                <a:cs typeface="Calibri"/>
              </a:rPr>
              <a:t>Each expert: Proposes one plot step at a time- Shares it with the group- Refines </a:t>
            </a:r>
            <a:r>
              <a:rPr lang="en-US" sz="900" i="1" dirty="0">
                <a:solidFill>
                  <a:srgbClr val="1E293B"/>
                </a:solidFill>
                <a:latin typeface="Calibri"/>
                <a:ea typeface="Calibri"/>
                <a:cs typeface="Calibri"/>
              </a:rPr>
              <a:t>based on others’ input- Stops contributing if the plot becomes clichéd</a:t>
            </a:r>
            <a:endParaRPr lang="en-US" dirty="0"/>
          </a:p>
          <a:p>
            <a:pPr marL="0" indent="0">
              <a:buNone/>
            </a:pPr>
            <a:endParaRPr lang="en-US" sz="900" i="1" dirty="0">
              <a:solidFill>
                <a:srgbClr val="1E293B"/>
              </a:solidFill>
              <a:ea typeface="Calibri"/>
              <a:cs typeface="Calibri"/>
            </a:endParaRPr>
          </a:p>
        </p:txBody>
      </p:sp>
      <p:pic>
        <p:nvPicPr>
          <p:cNvPr id="50" name="Picture 49" descr="preencoded.png">
            <a:extLst>
              <a:ext uri="{FF2B5EF4-FFF2-40B4-BE49-F238E27FC236}">
                <a16:creationId xmlns:a16="http://schemas.microsoft.com/office/drawing/2014/main" id="{CA71EC19-0060-3E65-E3B6-B30AF4F40CD0}"/>
              </a:ext>
            </a:extLst>
          </p:cNvPr>
          <p:cNvPicPr>
            <a:picLocks noChangeAspect="1"/>
          </p:cNvPicPr>
          <p:nvPr/>
        </p:nvPicPr>
        <p:blipFill>
          <a:blip r:embed="rId7"/>
          <a:srcRect b="2632"/>
          <a:stretch>
            <a:fillRect/>
          </a:stretch>
        </p:blipFill>
        <p:spPr>
          <a:xfrm>
            <a:off x="4844584" y="3217769"/>
            <a:ext cx="295275" cy="296779"/>
          </a:xfrm>
          <a:prstGeom prst="rect">
            <a:avLst/>
          </a:prstGeom>
        </p:spPr>
      </p:pic>
      <p:sp>
        <p:nvSpPr>
          <p:cNvPr id="53" name="Text 10">
            <a:extLst>
              <a:ext uri="{FF2B5EF4-FFF2-40B4-BE49-F238E27FC236}">
                <a16:creationId xmlns:a16="http://schemas.microsoft.com/office/drawing/2014/main" id="{0B459BFE-3BD5-D91D-BE23-1CB73E386933}"/>
              </a:ext>
            </a:extLst>
          </p:cNvPr>
          <p:cNvSpPr/>
          <p:nvPr/>
        </p:nvSpPr>
        <p:spPr>
          <a:xfrm>
            <a:off x="474009" y="1889715"/>
            <a:ext cx="777240"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b="1" kern="0" spc="150" dirty="0">
                <a:solidFill>
                  <a:srgbClr val="7C3AED"/>
                </a:solidFill>
                <a:latin typeface="Calibri" pitchFamily="34" charset="0"/>
                <a:ea typeface="Calibri" pitchFamily="34" charset="-122"/>
                <a:cs typeface="Calibri" pitchFamily="34" charset="-120"/>
              </a:rPr>
              <a:t>EXAMPLE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4F46E5"/>
          </a:solidFill>
          <a:ln/>
        </p:spPr>
      </p:sp>
      <p:sp>
        <p:nvSpPr>
          <p:cNvPr id="3" name="Text 1"/>
          <p:cNvSpPr/>
          <p:nvPr/>
        </p:nvSpPr>
        <p:spPr>
          <a:xfrm>
            <a:off x="274320" y="155448"/>
            <a:ext cx="8503920" cy="228600"/>
          </a:xfrm>
          <a:prstGeom prst="rect">
            <a:avLst/>
          </a:prstGeom>
          <a:noFill/>
          <a:ln/>
        </p:spPr>
        <p:txBody>
          <a:bodyPr wrap="square" lIns="0" tIns="0" rIns="0" bIns="0" rtlCol="0" anchor="ctr"/>
          <a:lstStyle/>
          <a:p>
            <a:pPr marL="0" indent="0">
              <a:buNone/>
            </a:pPr>
            <a:r>
              <a:rPr lang="en-US" sz="850" b="1" kern="0" spc="300" dirty="0">
                <a:solidFill>
                  <a:srgbClr val="4F46E5"/>
                </a:solidFill>
                <a:latin typeface="Calibri" pitchFamily="34" charset="0"/>
                <a:ea typeface="Calibri" pitchFamily="34" charset="-122"/>
                <a:cs typeface="Calibri" pitchFamily="34" charset="-120"/>
              </a:rPr>
              <a:t>TECHNIQUES 09–12  ·  CLOSE THE LOOP — ITERATE, JUDGE, AND CHAIN</a:t>
            </a:r>
            <a:endParaRPr lang="en-US" sz="850" dirty="0"/>
          </a:p>
        </p:txBody>
      </p:sp>
      <p:sp>
        <p:nvSpPr>
          <p:cNvPr id="4" name="Text 2"/>
          <p:cNvSpPr/>
          <p:nvPr/>
        </p:nvSpPr>
        <p:spPr>
          <a:xfrm>
            <a:off x="274320" y="365760"/>
            <a:ext cx="8503920" cy="594360"/>
          </a:xfrm>
          <a:prstGeom prst="rect">
            <a:avLst/>
          </a:prstGeom>
          <a:noFill/>
          <a:ln/>
        </p:spPr>
        <p:txBody>
          <a:bodyPr wrap="square" lIns="0" tIns="0" rIns="0" bIns="0" rtlCol="0" anchor="ctr"/>
          <a:lstStyle/>
          <a:p>
            <a:pPr marL="0" indent="0">
              <a:buNone/>
            </a:pPr>
            <a:r>
              <a:rPr lang="en-US" sz="2600" b="1" dirty="0">
                <a:solidFill>
                  <a:srgbClr val="0F172A"/>
                </a:solidFill>
                <a:latin typeface="Arial Black" pitchFamily="34" charset="0"/>
                <a:ea typeface="Arial Black" pitchFamily="34" charset="-122"/>
                <a:cs typeface="Arial Black" pitchFamily="34" charset="-120"/>
              </a:rPr>
              <a:t>Refinement &amp; Evaluation Prompting</a:t>
            </a:r>
            <a:endParaRPr lang="en-US" sz="2600" dirty="0"/>
          </a:p>
        </p:txBody>
      </p:sp>
      <p:sp>
        <p:nvSpPr>
          <p:cNvPr id="5" name="Shape 3"/>
          <p:cNvSpPr/>
          <p:nvPr/>
        </p:nvSpPr>
        <p:spPr>
          <a:xfrm>
            <a:off x="274320" y="987552"/>
            <a:ext cx="8595360" cy="16459"/>
          </a:xfrm>
          <a:prstGeom prst="rect">
            <a:avLst/>
          </a:prstGeom>
          <a:solidFill>
            <a:srgbClr val="E2E8F0"/>
          </a:solidFill>
          <a:ln/>
        </p:spPr>
      </p:sp>
      <p:sp>
        <p:nvSpPr>
          <p:cNvPr id="6" name="Shape 4"/>
          <p:cNvSpPr/>
          <p:nvPr/>
        </p:nvSpPr>
        <p:spPr>
          <a:xfrm>
            <a:off x="256032" y="1097280"/>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7" name="Shape 5"/>
          <p:cNvSpPr/>
          <p:nvPr/>
        </p:nvSpPr>
        <p:spPr>
          <a:xfrm>
            <a:off x="256032" y="1097280"/>
            <a:ext cx="54864" cy="1993392"/>
          </a:xfrm>
          <a:prstGeom prst="rect">
            <a:avLst/>
          </a:prstGeom>
          <a:solidFill>
            <a:srgbClr val="4F46E5"/>
          </a:solidFill>
          <a:ln/>
        </p:spPr>
      </p:sp>
      <p:sp>
        <p:nvSpPr>
          <p:cNvPr id="8" name="Text 6"/>
          <p:cNvSpPr/>
          <p:nvPr/>
        </p:nvSpPr>
        <p:spPr>
          <a:xfrm>
            <a:off x="3840480" y="1179576"/>
            <a:ext cx="530352" cy="219456"/>
          </a:xfrm>
          <a:prstGeom prst="rect">
            <a:avLst/>
          </a:prstGeom>
          <a:noFill/>
          <a:ln/>
        </p:spPr>
        <p:txBody>
          <a:bodyPr wrap="square" lIns="0" tIns="0" rIns="0" bIns="0" rtlCol="0" anchor="ctr"/>
          <a:lstStyle/>
          <a:p>
            <a:pPr marL="0" indent="0" algn="r">
              <a:buNone/>
            </a:pPr>
            <a:r>
              <a:rPr lang="en-US" sz="1050" b="1" dirty="0">
                <a:solidFill>
                  <a:srgbClr val="4F46E5"/>
                </a:solidFill>
              </a:rPr>
              <a:t>09</a:t>
            </a:r>
            <a:endParaRPr lang="en-US" sz="1050" dirty="0"/>
          </a:p>
        </p:txBody>
      </p:sp>
      <p:pic>
        <p:nvPicPr>
          <p:cNvPr id="9" name="Image 0" descr="preencoded.png"/>
          <p:cNvPicPr>
            <a:picLocks noChangeAspect="1"/>
          </p:cNvPicPr>
          <p:nvPr/>
        </p:nvPicPr>
        <p:blipFill>
          <a:blip r:embed="rId3"/>
          <a:stretch>
            <a:fillRect/>
          </a:stretch>
        </p:blipFill>
        <p:spPr>
          <a:xfrm>
            <a:off x="420624" y="1207008"/>
            <a:ext cx="292608" cy="292608"/>
          </a:xfrm>
          <a:prstGeom prst="rect">
            <a:avLst/>
          </a:prstGeom>
        </p:spPr>
      </p:pic>
      <p:sp>
        <p:nvSpPr>
          <p:cNvPr id="10" name="Text 7"/>
          <p:cNvSpPr/>
          <p:nvPr/>
        </p:nvSpPr>
        <p:spPr>
          <a:xfrm>
            <a:off x="402336" y="1554480"/>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Self-Reflection Prompting</a:t>
            </a:r>
            <a:endParaRPr lang="en-US" sz="1250" dirty="0"/>
          </a:p>
        </p:txBody>
      </p:sp>
      <p:sp>
        <p:nvSpPr>
          <p:cNvPr id="12" name="Shape 9"/>
          <p:cNvSpPr/>
          <p:nvPr/>
        </p:nvSpPr>
        <p:spPr>
          <a:xfrm>
            <a:off x="384048" y="1818782"/>
            <a:ext cx="3986784" cy="1198738"/>
          </a:xfrm>
          <a:prstGeom prst="rect">
            <a:avLst/>
          </a:prstGeom>
          <a:solidFill>
            <a:srgbClr val="F1F5F9"/>
          </a:solidFill>
          <a:ln w="6350">
            <a:solidFill>
              <a:srgbClr val="E2E8F0"/>
            </a:solidFill>
            <a:prstDash val="solid"/>
          </a:ln>
        </p:spPr>
      </p:sp>
      <p:sp>
        <p:nvSpPr>
          <p:cNvPr id="13" name="Text 10"/>
          <p:cNvSpPr/>
          <p:nvPr/>
        </p:nvSpPr>
        <p:spPr>
          <a:xfrm>
            <a:off x="457200" y="1898120"/>
            <a:ext cx="777240" cy="146304"/>
          </a:xfrm>
          <a:prstGeom prst="rect">
            <a:avLst/>
          </a:prstGeom>
          <a:noFill/>
          <a:ln/>
        </p:spPr>
        <p:txBody>
          <a:bodyPr wrap="square" lIns="0" tIns="0" rIns="0" bIns="0" rtlCol="0" anchor="ctr"/>
          <a:lstStyle/>
          <a:p>
            <a:pPr marL="0" indent="0">
              <a:buNone/>
            </a:pPr>
            <a:r>
              <a:rPr lang="en-US" sz="750" b="1" kern="0" spc="150" dirty="0">
                <a:solidFill>
                  <a:srgbClr val="4F46E5"/>
                </a:solidFill>
                <a:latin typeface="Calibri" pitchFamily="34" charset="0"/>
                <a:ea typeface="Calibri" pitchFamily="34" charset="-122"/>
                <a:cs typeface="Calibri" pitchFamily="34" charset="-120"/>
              </a:rPr>
              <a:t>EXAMPLE</a:t>
            </a:r>
            <a:endParaRPr lang="en-US" sz="750" dirty="0"/>
          </a:p>
        </p:txBody>
      </p:sp>
      <p:sp>
        <p:nvSpPr>
          <p:cNvPr id="14" name="Text 11"/>
          <p:cNvSpPr/>
          <p:nvPr/>
        </p:nvSpPr>
        <p:spPr>
          <a:xfrm>
            <a:off x="474009" y="2070376"/>
            <a:ext cx="3803904" cy="347472"/>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"Here is your first draft. Now identify 2 weaknesses in your reasoning and rewrite with those fixed."</a:t>
            </a:r>
            <a:endParaRPr lang="en-US" sz="900" dirty="0"/>
          </a:p>
        </p:txBody>
      </p:sp>
      <p:sp>
        <p:nvSpPr>
          <p:cNvPr id="15" name="Shape 12"/>
          <p:cNvSpPr/>
          <p:nvPr/>
        </p:nvSpPr>
        <p:spPr>
          <a:xfrm>
            <a:off x="4681728" y="1097280"/>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16" name="Shape 13"/>
          <p:cNvSpPr/>
          <p:nvPr/>
        </p:nvSpPr>
        <p:spPr>
          <a:xfrm>
            <a:off x="4681728" y="1097280"/>
            <a:ext cx="54864" cy="1993392"/>
          </a:xfrm>
          <a:prstGeom prst="rect">
            <a:avLst/>
          </a:prstGeom>
          <a:solidFill>
            <a:srgbClr val="4F46E5"/>
          </a:solidFill>
          <a:ln/>
        </p:spPr>
      </p:sp>
      <p:sp>
        <p:nvSpPr>
          <p:cNvPr id="17" name="Text 14"/>
          <p:cNvSpPr/>
          <p:nvPr/>
        </p:nvSpPr>
        <p:spPr>
          <a:xfrm>
            <a:off x="8266176" y="1179576"/>
            <a:ext cx="530352" cy="219456"/>
          </a:xfrm>
          <a:prstGeom prst="rect">
            <a:avLst/>
          </a:prstGeom>
          <a:noFill/>
          <a:ln/>
        </p:spPr>
        <p:txBody>
          <a:bodyPr wrap="square" lIns="0" tIns="0" rIns="0" bIns="0" rtlCol="0" anchor="ctr"/>
          <a:lstStyle/>
          <a:p>
            <a:pPr marL="0" indent="0" algn="r">
              <a:buNone/>
            </a:pPr>
            <a:r>
              <a:rPr lang="en-US" sz="1050" b="1" dirty="0">
                <a:solidFill>
                  <a:srgbClr val="4F46E5"/>
                </a:solidFill>
              </a:rPr>
              <a:t>10</a:t>
            </a:r>
            <a:endParaRPr lang="en-US" sz="1050" dirty="0"/>
          </a:p>
        </p:txBody>
      </p:sp>
      <p:pic>
        <p:nvPicPr>
          <p:cNvPr id="18" name="Image 1" descr="preencoded.png"/>
          <p:cNvPicPr>
            <a:picLocks noChangeAspect="1"/>
          </p:cNvPicPr>
          <p:nvPr/>
        </p:nvPicPr>
        <p:blipFill>
          <a:blip r:embed="rId4"/>
          <a:stretch>
            <a:fillRect/>
          </a:stretch>
        </p:blipFill>
        <p:spPr>
          <a:xfrm>
            <a:off x="4846320" y="1207008"/>
            <a:ext cx="292608" cy="292608"/>
          </a:xfrm>
          <a:prstGeom prst="rect">
            <a:avLst/>
          </a:prstGeom>
        </p:spPr>
      </p:pic>
      <p:sp>
        <p:nvSpPr>
          <p:cNvPr id="19" name="Text 15"/>
          <p:cNvSpPr/>
          <p:nvPr/>
        </p:nvSpPr>
        <p:spPr>
          <a:xfrm>
            <a:off x="4828032" y="1554480"/>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ReAct Prompting</a:t>
            </a:r>
            <a:endParaRPr lang="en-US" sz="1250" dirty="0"/>
          </a:p>
        </p:txBody>
      </p:sp>
      <p:sp>
        <p:nvSpPr>
          <p:cNvPr id="21" name="Shape 17"/>
          <p:cNvSpPr/>
          <p:nvPr/>
        </p:nvSpPr>
        <p:spPr>
          <a:xfrm>
            <a:off x="4809744" y="1818782"/>
            <a:ext cx="3986784" cy="1198738"/>
          </a:xfrm>
          <a:prstGeom prst="rect">
            <a:avLst/>
          </a:prstGeom>
          <a:solidFill>
            <a:srgbClr val="F1F5F9"/>
          </a:solidFill>
          <a:ln w="6350">
            <a:solidFill>
              <a:srgbClr val="E2E8F0"/>
            </a:solidFill>
            <a:prstDash val="solid"/>
          </a:ln>
        </p:spPr>
      </p:sp>
      <p:sp>
        <p:nvSpPr>
          <p:cNvPr id="22" name="Text 18"/>
          <p:cNvSpPr/>
          <p:nvPr/>
        </p:nvSpPr>
        <p:spPr>
          <a:xfrm>
            <a:off x="4882896" y="1898120"/>
            <a:ext cx="777240" cy="146304"/>
          </a:xfrm>
          <a:prstGeom prst="rect">
            <a:avLst/>
          </a:prstGeom>
          <a:noFill/>
          <a:ln/>
        </p:spPr>
        <p:txBody>
          <a:bodyPr wrap="square" lIns="0" tIns="0" rIns="0" bIns="0" rtlCol="0" anchor="ctr"/>
          <a:lstStyle/>
          <a:p>
            <a:pPr marL="0" indent="0">
              <a:buNone/>
            </a:pPr>
            <a:r>
              <a:rPr lang="en-US" sz="750" b="1" kern="0" spc="150" dirty="0">
                <a:solidFill>
                  <a:srgbClr val="4F46E5"/>
                </a:solidFill>
                <a:latin typeface="Calibri" pitchFamily="34" charset="0"/>
                <a:ea typeface="Calibri" pitchFamily="34" charset="-122"/>
                <a:cs typeface="Calibri" pitchFamily="34" charset="-120"/>
              </a:rPr>
              <a:t>EXAMPLE</a:t>
            </a:r>
            <a:endParaRPr lang="en-US" sz="750" dirty="0"/>
          </a:p>
        </p:txBody>
      </p:sp>
      <p:sp>
        <p:nvSpPr>
          <p:cNvPr id="23" name="Text 19"/>
          <p:cNvSpPr/>
          <p:nvPr/>
        </p:nvSpPr>
        <p:spPr>
          <a:xfrm>
            <a:off x="4899705" y="2070376"/>
            <a:ext cx="3803904" cy="347472"/>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"Thought: I need today's stock price. Action: search[AAPL price]. Observation: $189. Thought: Now calculate…"</a:t>
            </a:r>
            <a:endParaRPr lang="en-US" sz="900" dirty="0"/>
          </a:p>
        </p:txBody>
      </p:sp>
      <p:sp>
        <p:nvSpPr>
          <p:cNvPr id="24" name="Shape 20"/>
          <p:cNvSpPr/>
          <p:nvPr/>
        </p:nvSpPr>
        <p:spPr>
          <a:xfrm>
            <a:off x="256032" y="3136392"/>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25" name="Shape 21"/>
          <p:cNvSpPr/>
          <p:nvPr/>
        </p:nvSpPr>
        <p:spPr>
          <a:xfrm>
            <a:off x="256032" y="3136392"/>
            <a:ext cx="54864" cy="1993392"/>
          </a:xfrm>
          <a:prstGeom prst="rect">
            <a:avLst/>
          </a:prstGeom>
          <a:solidFill>
            <a:srgbClr val="F59E0B"/>
          </a:solidFill>
          <a:ln/>
        </p:spPr>
      </p:sp>
      <p:sp>
        <p:nvSpPr>
          <p:cNvPr id="26" name="Text 22"/>
          <p:cNvSpPr/>
          <p:nvPr/>
        </p:nvSpPr>
        <p:spPr>
          <a:xfrm>
            <a:off x="3840480" y="3218688"/>
            <a:ext cx="530352" cy="219456"/>
          </a:xfrm>
          <a:prstGeom prst="rect">
            <a:avLst/>
          </a:prstGeom>
          <a:noFill/>
          <a:ln/>
        </p:spPr>
        <p:txBody>
          <a:bodyPr wrap="square" lIns="0" tIns="0" rIns="0" bIns="0" rtlCol="0" anchor="ctr"/>
          <a:lstStyle/>
          <a:p>
            <a:pPr marL="0" indent="0" algn="r">
              <a:buNone/>
            </a:pPr>
            <a:r>
              <a:rPr lang="en-US" sz="1050" b="1" dirty="0">
                <a:solidFill>
                  <a:srgbClr val="F59E0B"/>
                </a:solidFill>
              </a:rPr>
              <a:t>11</a:t>
            </a:r>
            <a:endParaRPr lang="en-US" sz="1050" dirty="0"/>
          </a:p>
        </p:txBody>
      </p:sp>
      <p:pic>
        <p:nvPicPr>
          <p:cNvPr id="27" name="Image 2" descr="preencoded.png"/>
          <p:cNvPicPr>
            <a:picLocks noChangeAspect="1"/>
          </p:cNvPicPr>
          <p:nvPr/>
        </p:nvPicPr>
        <p:blipFill>
          <a:blip r:embed="rId5"/>
          <a:stretch>
            <a:fillRect/>
          </a:stretch>
        </p:blipFill>
        <p:spPr>
          <a:xfrm>
            <a:off x="420624" y="3246120"/>
            <a:ext cx="292608" cy="292608"/>
          </a:xfrm>
          <a:prstGeom prst="rect">
            <a:avLst/>
          </a:prstGeom>
        </p:spPr>
      </p:pic>
      <p:sp>
        <p:nvSpPr>
          <p:cNvPr id="28" name="Text 23"/>
          <p:cNvSpPr/>
          <p:nvPr/>
        </p:nvSpPr>
        <p:spPr>
          <a:xfrm>
            <a:off x="402336" y="3593592"/>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LLM-as-Judge</a:t>
            </a:r>
            <a:endParaRPr lang="en-US" sz="1250" dirty="0"/>
          </a:p>
        </p:txBody>
      </p:sp>
      <p:sp>
        <p:nvSpPr>
          <p:cNvPr id="30" name="Shape 25"/>
          <p:cNvSpPr/>
          <p:nvPr/>
        </p:nvSpPr>
        <p:spPr>
          <a:xfrm>
            <a:off x="384048" y="3857894"/>
            <a:ext cx="3986784" cy="1198738"/>
          </a:xfrm>
          <a:prstGeom prst="rect">
            <a:avLst/>
          </a:prstGeom>
          <a:solidFill>
            <a:srgbClr val="F1F5F9"/>
          </a:solidFill>
          <a:ln w="6350">
            <a:solidFill>
              <a:srgbClr val="E2E8F0"/>
            </a:solidFill>
            <a:prstDash val="solid"/>
          </a:ln>
        </p:spPr>
      </p:sp>
      <p:sp>
        <p:nvSpPr>
          <p:cNvPr id="31" name="Text 26"/>
          <p:cNvSpPr/>
          <p:nvPr/>
        </p:nvSpPr>
        <p:spPr>
          <a:xfrm>
            <a:off x="457200" y="3937232"/>
            <a:ext cx="777240" cy="146304"/>
          </a:xfrm>
          <a:prstGeom prst="rect">
            <a:avLst/>
          </a:prstGeom>
          <a:noFill/>
          <a:ln/>
        </p:spPr>
        <p:txBody>
          <a:bodyPr wrap="square" lIns="0" tIns="0" rIns="0" bIns="0" rtlCol="0" anchor="ctr"/>
          <a:lstStyle/>
          <a:p>
            <a:pPr marL="0" indent="0">
              <a:buNone/>
            </a:pPr>
            <a:r>
              <a:rPr lang="en-US" sz="750" b="1" kern="0" spc="150" dirty="0">
                <a:solidFill>
                  <a:srgbClr val="F59E0B"/>
                </a:solidFill>
                <a:latin typeface="Calibri" pitchFamily="34" charset="0"/>
                <a:ea typeface="Calibri" pitchFamily="34" charset="-122"/>
                <a:cs typeface="Calibri" pitchFamily="34" charset="-120"/>
              </a:rPr>
              <a:t>EXAMPLE</a:t>
            </a:r>
            <a:endParaRPr lang="en-US" sz="750" dirty="0"/>
          </a:p>
        </p:txBody>
      </p:sp>
      <p:sp>
        <p:nvSpPr>
          <p:cNvPr id="32" name="Text 27"/>
          <p:cNvSpPr/>
          <p:nvPr/>
        </p:nvSpPr>
        <p:spPr>
          <a:xfrm>
            <a:off x="474009" y="4109488"/>
            <a:ext cx="3803904" cy="347472"/>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"Score this answer 1–10 for accuracy, clarity, and completeness. Explain each score in one sentence."</a:t>
            </a:r>
            <a:endParaRPr lang="en-US" sz="900" dirty="0"/>
          </a:p>
        </p:txBody>
      </p:sp>
      <p:sp>
        <p:nvSpPr>
          <p:cNvPr id="33" name="Shape 28"/>
          <p:cNvSpPr/>
          <p:nvPr/>
        </p:nvSpPr>
        <p:spPr>
          <a:xfrm>
            <a:off x="4681728" y="3136392"/>
            <a:ext cx="4206240" cy="1993392"/>
          </a:xfrm>
          <a:prstGeom prst="rect">
            <a:avLst/>
          </a:prstGeom>
          <a:solidFill>
            <a:srgbClr val="FFFFFF"/>
          </a:solidFill>
          <a:ln w="9525">
            <a:solidFill>
              <a:srgbClr val="E2E8F0"/>
            </a:solidFill>
            <a:prstDash val="solid"/>
          </a:ln>
          <a:effectLst>
            <a:outerShdw blurRad="101600" dist="25400" dir="8100000" algn="bl" rotWithShape="0">
              <a:srgbClr val="000000">
                <a:alpha val="9000"/>
              </a:srgbClr>
            </a:outerShdw>
          </a:effectLst>
        </p:spPr>
      </p:sp>
      <p:sp>
        <p:nvSpPr>
          <p:cNvPr id="34" name="Shape 29"/>
          <p:cNvSpPr/>
          <p:nvPr/>
        </p:nvSpPr>
        <p:spPr>
          <a:xfrm>
            <a:off x="4681728" y="3136392"/>
            <a:ext cx="54864" cy="1993392"/>
          </a:xfrm>
          <a:prstGeom prst="rect">
            <a:avLst/>
          </a:prstGeom>
          <a:solidFill>
            <a:srgbClr val="D97706"/>
          </a:solidFill>
          <a:ln/>
        </p:spPr>
      </p:sp>
      <p:sp>
        <p:nvSpPr>
          <p:cNvPr id="35" name="Text 30"/>
          <p:cNvSpPr/>
          <p:nvPr/>
        </p:nvSpPr>
        <p:spPr>
          <a:xfrm>
            <a:off x="8266176" y="3218688"/>
            <a:ext cx="530352" cy="219456"/>
          </a:xfrm>
          <a:prstGeom prst="rect">
            <a:avLst/>
          </a:prstGeom>
          <a:noFill/>
          <a:ln/>
        </p:spPr>
        <p:txBody>
          <a:bodyPr wrap="square" lIns="0" tIns="0" rIns="0" bIns="0" rtlCol="0" anchor="ctr"/>
          <a:lstStyle/>
          <a:p>
            <a:pPr marL="0" indent="0" algn="r">
              <a:buNone/>
            </a:pPr>
            <a:r>
              <a:rPr lang="en-US" sz="1050" b="1" dirty="0">
                <a:solidFill>
                  <a:srgbClr val="D97706"/>
                </a:solidFill>
              </a:rPr>
              <a:t>12</a:t>
            </a:r>
            <a:endParaRPr lang="en-US" sz="1050" dirty="0"/>
          </a:p>
        </p:txBody>
      </p:sp>
      <p:pic>
        <p:nvPicPr>
          <p:cNvPr id="36" name="Image 3" descr="preencoded.png"/>
          <p:cNvPicPr>
            <a:picLocks noChangeAspect="1"/>
          </p:cNvPicPr>
          <p:nvPr/>
        </p:nvPicPr>
        <p:blipFill>
          <a:blip r:embed="rId6"/>
          <a:stretch>
            <a:fillRect/>
          </a:stretch>
        </p:blipFill>
        <p:spPr>
          <a:xfrm>
            <a:off x="4846320" y="3246120"/>
            <a:ext cx="292608" cy="292608"/>
          </a:xfrm>
          <a:prstGeom prst="rect">
            <a:avLst/>
          </a:prstGeom>
        </p:spPr>
      </p:pic>
      <p:sp>
        <p:nvSpPr>
          <p:cNvPr id="37" name="Text 31"/>
          <p:cNvSpPr/>
          <p:nvPr/>
        </p:nvSpPr>
        <p:spPr>
          <a:xfrm>
            <a:off x="4828032" y="3593592"/>
            <a:ext cx="3968496"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Prompt Chaining</a:t>
            </a:r>
            <a:endParaRPr lang="en-US" sz="1250" dirty="0"/>
          </a:p>
        </p:txBody>
      </p:sp>
      <p:sp>
        <p:nvSpPr>
          <p:cNvPr id="39" name="Shape 33"/>
          <p:cNvSpPr/>
          <p:nvPr/>
        </p:nvSpPr>
        <p:spPr>
          <a:xfrm>
            <a:off x="4809744" y="3857894"/>
            <a:ext cx="3986784" cy="1198738"/>
          </a:xfrm>
          <a:prstGeom prst="rect">
            <a:avLst/>
          </a:prstGeom>
          <a:solidFill>
            <a:srgbClr val="F1F5F9"/>
          </a:solidFill>
          <a:ln w="6350">
            <a:solidFill>
              <a:srgbClr val="E2E8F0"/>
            </a:solidFill>
            <a:prstDash val="solid"/>
          </a:ln>
        </p:spPr>
      </p:sp>
      <p:sp>
        <p:nvSpPr>
          <p:cNvPr id="40" name="Text 34"/>
          <p:cNvSpPr/>
          <p:nvPr/>
        </p:nvSpPr>
        <p:spPr>
          <a:xfrm>
            <a:off x="4882896" y="3937232"/>
            <a:ext cx="777240" cy="146304"/>
          </a:xfrm>
          <a:prstGeom prst="rect">
            <a:avLst/>
          </a:prstGeom>
          <a:noFill/>
          <a:ln/>
        </p:spPr>
        <p:txBody>
          <a:bodyPr wrap="square" lIns="0" tIns="0" rIns="0" bIns="0" rtlCol="0" anchor="ctr"/>
          <a:lstStyle/>
          <a:p>
            <a:pPr marL="0" indent="0">
              <a:buNone/>
            </a:pPr>
            <a:r>
              <a:rPr lang="en-US" sz="750" b="1" kern="0" spc="150" dirty="0">
                <a:solidFill>
                  <a:srgbClr val="D97706"/>
                </a:solidFill>
                <a:latin typeface="Calibri" pitchFamily="34" charset="0"/>
                <a:ea typeface="Calibri" pitchFamily="34" charset="-122"/>
                <a:cs typeface="Calibri" pitchFamily="34" charset="-120"/>
              </a:rPr>
              <a:t>EXAMPLE</a:t>
            </a:r>
            <a:endParaRPr lang="en-US" sz="750" dirty="0"/>
          </a:p>
        </p:txBody>
      </p:sp>
      <p:sp>
        <p:nvSpPr>
          <p:cNvPr id="41" name="Text 35"/>
          <p:cNvSpPr/>
          <p:nvPr/>
        </p:nvSpPr>
        <p:spPr>
          <a:xfrm>
            <a:off x="4899705" y="4109488"/>
            <a:ext cx="3803904" cy="347472"/>
          </a:xfrm>
          <a:prstGeom prst="rect">
            <a:avLst/>
          </a:prstGeom>
          <a:noFill/>
          <a:ln/>
        </p:spPr>
        <p:txBody>
          <a:bodyPr wrap="square" lIns="0" tIns="0" rIns="0" bIns="0" rtlCol="0" anchor="t"/>
          <a:lstStyle/>
          <a:p>
            <a:pPr marL="0" indent="0">
              <a:buNone/>
            </a:pPr>
            <a:r>
              <a:rPr lang="en-US" sz="900" i="1" dirty="0">
                <a:solidFill>
                  <a:srgbClr val="1E293B"/>
                </a:solidFill>
                <a:latin typeface="Calibri" pitchFamily="34" charset="0"/>
                <a:ea typeface="Calibri" pitchFamily="34" charset="-122"/>
                <a:cs typeface="Calibri" pitchFamily="34" charset="-120"/>
              </a:rPr>
              <a:t>"Step 1: Summarize this report. → Step 2: Extract 5 action items from that summary. → Step 3: Assign owners."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Advanced &amp; Modern Prompting</a:t>
            </a:r>
            <a:endParaRPr lang="en-US" sz="2800" dirty="0"/>
          </a:p>
        </p:txBody>
      </p:sp>
      <p:sp>
        <p:nvSpPr>
          <p:cNvPr id="3" name="Text 1"/>
          <p:cNvSpPr/>
          <p:nvPr/>
        </p:nvSpPr>
        <p:spPr>
          <a:xfrm>
            <a:off x="457200" y="804672"/>
            <a:ext cx="8229600" cy="237744"/>
          </a:xfrm>
          <a:prstGeom prst="rect">
            <a:avLst/>
          </a:prstGeom>
          <a:noFill/>
          <a:ln/>
        </p:spPr>
        <p:txBody>
          <a:bodyPr wrap="square" lIns="0" tIns="0" rIns="0" bIns="0" rtlCol="0" anchor="ctr"/>
          <a:lstStyle/>
          <a:p>
            <a:pPr marL="0" indent="0">
              <a:buNone/>
            </a:pPr>
            <a:r>
              <a:rPr lang="en-US" sz="850" b="1" kern="0" spc="200" dirty="0">
                <a:solidFill>
                  <a:srgbClr val="0EA5E9"/>
                </a:solidFill>
                <a:latin typeface="Calibri" pitchFamily="34" charset="0"/>
                <a:ea typeface="Calibri" pitchFamily="34" charset="-122"/>
                <a:cs typeface="Calibri" pitchFamily="34" charset="-120"/>
              </a:rPr>
              <a:t>TECHNIQUES 13–16  ·  THE FRONTIER OF PROMPT ENGINEERING</a:t>
            </a:r>
            <a:endParaRPr lang="en-US" sz="850" dirty="0"/>
          </a:p>
        </p:txBody>
      </p:sp>
      <p:sp>
        <p:nvSpPr>
          <p:cNvPr id="4" name="Shape 2"/>
          <p:cNvSpPr/>
          <p:nvPr/>
        </p:nvSpPr>
        <p:spPr>
          <a:xfrm>
            <a:off x="457200" y="1069848"/>
            <a:ext cx="8229600" cy="16459"/>
          </a:xfrm>
          <a:prstGeom prst="rect">
            <a:avLst/>
          </a:prstGeom>
          <a:solidFill>
            <a:srgbClr val="1E293B"/>
          </a:solidFill>
          <a:ln/>
        </p:spPr>
      </p:sp>
      <p:sp>
        <p:nvSpPr>
          <p:cNvPr id="5" name="Shape 3"/>
          <p:cNvSpPr/>
          <p:nvPr/>
        </p:nvSpPr>
        <p:spPr>
          <a:xfrm>
            <a:off x="374904" y="1170432"/>
            <a:ext cx="2029968" cy="2633472"/>
          </a:xfrm>
          <a:prstGeom prst="rect">
            <a:avLst/>
          </a:prstGeom>
          <a:solidFill>
            <a:srgbClr val="1E293B"/>
          </a:solidFill>
          <a:ln w="9525">
            <a:solidFill>
              <a:srgbClr val="334155"/>
            </a:solidFill>
            <a:prstDash val="solid"/>
          </a:ln>
          <a:effectLst>
            <a:outerShdw blurRad="127000" dist="38100" dir="8100000" algn="bl" rotWithShape="0">
              <a:srgbClr val="000000">
                <a:alpha val="28000"/>
              </a:srgbClr>
            </a:outerShdw>
          </a:effectLst>
        </p:spPr>
      </p:sp>
      <p:sp>
        <p:nvSpPr>
          <p:cNvPr id="6" name="Shape 4"/>
          <p:cNvSpPr/>
          <p:nvPr/>
        </p:nvSpPr>
        <p:spPr>
          <a:xfrm>
            <a:off x="374904" y="1170432"/>
            <a:ext cx="2029968" cy="64008"/>
          </a:xfrm>
          <a:prstGeom prst="rect">
            <a:avLst/>
          </a:prstGeom>
          <a:solidFill>
            <a:srgbClr val="0EA5E9"/>
          </a:solidFill>
          <a:ln/>
        </p:spPr>
      </p:sp>
      <p:sp>
        <p:nvSpPr>
          <p:cNvPr id="7" name="Text 5"/>
          <p:cNvSpPr/>
          <p:nvPr/>
        </p:nvSpPr>
        <p:spPr>
          <a:xfrm>
            <a:off x="1929384" y="1252728"/>
            <a:ext cx="384048" cy="201168"/>
          </a:xfrm>
          <a:prstGeom prst="rect">
            <a:avLst/>
          </a:prstGeom>
          <a:noFill/>
          <a:ln/>
        </p:spPr>
        <p:txBody>
          <a:bodyPr wrap="square" lIns="0" tIns="0" rIns="0" bIns="0" rtlCol="0" anchor="ctr"/>
          <a:lstStyle/>
          <a:p>
            <a:pPr marL="0" indent="0" algn="r">
              <a:buNone/>
            </a:pPr>
            <a:r>
              <a:rPr lang="en-US" sz="1000" b="1" dirty="0">
                <a:solidFill>
                  <a:srgbClr val="0EA5E9"/>
                </a:solidFill>
              </a:rPr>
              <a:t>13</a:t>
            </a:r>
            <a:endParaRPr lang="en-US" sz="1000" dirty="0"/>
          </a:p>
        </p:txBody>
      </p:sp>
      <p:pic>
        <p:nvPicPr>
          <p:cNvPr id="8" name="Image 0" descr="preencoded.png"/>
          <p:cNvPicPr>
            <a:picLocks noChangeAspect="1"/>
          </p:cNvPicPr>
          <p:nvPr/>
        </p:nvPicPr>
        <p:blipFill>
          <a:blip r:embed="rId3"/>
          <a:stretch>
            <a:fillRect/>
          </a:stretch>
        </p:blipFill>
        <p:spPr>
          <a:xfrm>
            <a:off x="530352" y="1261872"/>
            <a:ext cx="310896" cy="310896"/>
          </a:xfrm>
          <a:prstGeom prst="rect">
            <a:avLst/>
          </a:prstGeom>
        </p:spPr>
      </p:pic>
      <p:sp>
        <p:nvSpPr>
          <p:cNvPr id="9" name="Text 6"/>
          <p:cNvSpPr/>
          <p:nvPr/>
        </p:nvSpPr>
        <p:spPr>
          <a:xfrm>
            <a:off x="502920" y="1645920"/>
            <a:ext cx="1810512"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RAG-Style Prompting</a:t>
            </a:r>
            <a:endParaRPr lang="en-US" sz="1150" dirty="0"/>
          </a:p>
        </p:txBody>
      </p:sp>
      <p:sp>
        <p:nvSpPr>
          <p:cNvPr id="11" name="Shape 8"/>
          <p:cNvSpPr/>
          <p:nvPr/>
        </p:nvSpPr>
        <p:spPr>
          <a:xfrm>
            <a:off x="484632" y="2045567"/>
            <a:ext cx="1828800" cy="1685185"/>
          </a:xfrm>
          <a:prstGeom prst="rect">
            <a:avLst/>
          </a:prstGeom>
          <a:solidFill>
            <a:srgbClr val="0F172A"/>
          </a:solidFill>
          <a:ln w="6350">
            <a:solidFill>
              <a:srgbClr val="334155"/>
            </a:solidFill>
            <a:prstDash val="solid"/>
          </a:ln>
        </p:spPr>
      </p:sp>
      <p:sp>
        <p:nvSpPr>
          <p:cNvPr id="12" name="Text 9"/>
          <p:cNvSpPr/>
          <p:nvPr/>
        </p:nvSpPr>
        <p:spPr>
          <a:xfrm>
            <a:off x="574592" y="2108835"/>
            <a:ext cx="749808" cy="137160"/>
          </a:xfrm>
          <a:prstGeom prst="rect">
            <a:avLst/>
          </a:prstGeom>
          <a:noFill/>
          <a:ln/>
        </p:spPr>
        <p:txBody>
          <a:bodyPr wrap="square" lIns="0" tIns="0" rIns="0" bIns="0" rtlCol="0" anchor="ctr"/>
          <a:lstStyle/>
          <a:p>
            <a:pPr marL="0" indent="0">
              <a:buNone/>
            </a:pPr>
            <a:r>
              <a:rPr lang="en-US" sz="700" b="1" kern="0" spc="150" dirty="0">
                <a:solidFill>
                  <a:srgbClr val="0EA5E9"/>
                </a:solidFill>
                <a:latin typeface="Calibri" pitchFamily="34" charset="0"/>
                <a:ea typeface="Calibri" pitchFamily="34" charset="-122"/>
                <a:cs typeface="Calibri" pitchFamily="34" charset="-120"/>
              </a:rPr>
              <a:t>EXAMPLE</a:t>
            </a:r>
            <a:endParaRPr lang="en-US" sz="700" dirty="0"/>
          </a:p>
        </p:txBody>
      </p:sp>
      <p:sp>
        <p:nvSpPr>
          <p:cNvPr id="13" name="Text 10"/>
          <p:cNvSpPr/>
          <p:nvPr/>
        </p:nvSpPr>
        <p:spPr>
          <a:xfrm>
            <a:off x="582997" y="2255879"/>
            <a:ext cx="1664208" cy="420624"/>
          </a:xfrm>
          <a:prstGeom prst="rect">
            <a:avLst/>
          </a:prstGeom>
          <a:noFill/>
          <a:ln/>
        </p:spPr>
        <p:txBody>
          <a:bodyPr wrap="square" lIns="0" tIns="0" rIns="0" bIns="0" rtlCol="0" anchor="t"/>
          <a:lstStyle/>
          <a:p>
            <a:pPr marL="0" indent="0">
              <a:buNone/>
            </a:pPr>
            <a:r>
              <a:rPr lang="en-US" sz="850" i="1" dirty="0">
                <a:solidFill>
                  <a:srgbClr val="CBD5E1"/>
                </a:solidFill>
                <a:latin typeface="Calibri" pitchFamily="34" charset="0"/>
                <a:ea typeface="Calibri" pitchFamily="34" charset="-122"/>
                <a:cs typeface="Calibri" pitchFamily="34" charset="-120"/>
              </a:rPr>
              <a:t>"Using only the attached policy document, answer: What is the refund window for digital products?"</a:t>
            </a:r>
            <a:endParaRPr lang="en-US" sz="850" dirty="0"/>
          </a:p>
        </p:txBody>
      </p:sp>
      <p:sp>
        <p:nvSpPr>
          <p:cNvPr id="14" name="Shape 11"/>
          <p:cNvSpPr/>
          <p:nvPr/>
        </p:nvSpPr>
        <p:spPr>
          <a:xfrm>
            <a:off x="2496312" y="1170432"/>
            <a:ext cx="2029968" cy="2633472"/>
          </a:xfrm>
          <a:prstGeom prst="rect">
            <a:avLst/>
          </a:prstGeom>
          <a:solidFill>
            <a:srgbClr val="1E293B"/>
          </a:solidFill>
          <a:ln w="9525">
            <a:solidFill>
              <a:srgbClr val="334155"/>
            </a:solidFill>
            <a:prstDash val="solid"/>
          </a:ln>
          <a:effectLst>
            <a:outerShdw blurRad="127000" dist="38100" dir="8100000" algn="bl" rotWithShape="0">
              <a:srgbClr val="000000">
                <a:alpha val="28000"/>
              </a:srgbClr>
            </a:outerShdw>
          </a:effectLst>
        </p:spPr>
      </p:sp>
      <p:sp>
        <p:nvSpPr>
          <p:cNvPr id="15" name="Shape 12"/>
          <p:cNvSpPr/>
          <p:nvPr/>
        </p:nvSpPr>
        <p:spPr>
          <a:xfrm>
            <a:off x="2496312" y="1170432"/>
            <a:ext cx="2029968" cy="64008"/>
          </a:xfrm>
          <a:prstGeom prst="rect">
            <a:avLst/>
          </a:prstGeom>
          <a:solidFill>
            <a:srgbClr val="7C3AED"/>
          </a:solidFill>
          <a:ln/>
        </p:spPr>
      </p:sp>
      <p:sp>
        <p:nvSpPr>
          <p:cNvPr id="16" name="Text 13"/>
          <p:cNvSpPr/>
          <p:nvPr/>
        </p:nvSpPr>
        <p:spPr>
          <a:xfrm>
            <a:off x="4050792" y="1252728"/>
            <a:ext cx="384048" cy="201168"/>
          </a:xfrm>
          <a:prstGeom prst="rect">
            <a:avLst/>
          </a:prstGeom>
          <a:noFill/>
          <a:ln/>
        </p:spPr>
        <p:txBody>
          <a:bodyPr wrap="square" lIns="0" tIns="0" rIns="0" bIns="0" rtlCol="0" anchor="ctr"/>
          <a:lstStyle/>
          <a:p>
            <a:pPr marL="0" indent="0" algn="r">
              <a:buNone/>
            </a:pPr>
            <a:r>
              <a:rPr lang="en-US" sz="1000" b="1" dirty="0">
                <a:solidFill>
                  <a:srgbClr val="7C3AED"/>
                </a:solidFill>
              </a:rPr>
              <a:t>14</a:t>
            </a:r>
            <a:endParaRPr lang="en-US" sz="1000" dirty="0"/>
          </a:p>
        </p:txBody>
      </p:sp>
      <p:pic>
        <p:nvPicPr>
          <p:cNvPr id="17" name="Image 1" descr="preencoded.png"/>
          <p:cNvPicPr>
            <a:picLocks noChangeAspect="1"/>
          </p:cNvPicPr>
          <p:nvPr/>
        </p:nvPicPr>
        <p:blipFill>
          <a:blip r:embed="rId4"/>
          <a:stretch>
            <a:fillRect/>
          </a:stretch>
        </p:blipFill>
        <p:spPr>
          <a:xfrm>
            <a:off x="2651760" y="1261872"/>
            <a:ext cx="310896" cy="310896"/>
          </a:xfrm>
          <a:prstGeom prst="rect">
            <a:avLst/>
          </a:prstGeom>
        </p:spPr>
      </p:pic>
      <p:sp>
        <p:nvSpPr>
          <p:cNvPr id="18" name="Text 14"/>
          <p:cNvSpPr/>
          <p:nvPr/>
        </p:nvSpPr>
        <p:spPr>
          <a:xfrm>
            <a:off x="2624328" y="1645920"/>
            <a:ext cx="1810512"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Meta Prompting</a:t>
            </a:r>
            <a:endParaRPr lang="en-US" sz="1150" dirty="0"/>
          </a:p>
        </p:txBody>
      </p:sp>
      <p:sp>
        <p:nvSpPr>
          <p:cNvPr id="20" name="Shape 16"/>
          <p:cNvSpPr/>
          <p:nvPr/>
        </p:nvSpPr>
        <p:spPr>
          <a:xfrm>
            <a:off x="2606040" y="2045567"/>
            <a:ext cx="1828800" cy="1685185"/>
          </a:xfrm>
          <a:prstGeom prst="rect">
            <a:avLst/>
          </a:prstGeom>
          <a:solidFill>
            <a:srgbClr val="0F172A"/>
          </a:solidFill>
          <a:ln w="6350">
            <a:solidFill>
              <a:srgbClr val="334155"/>
            </a:solidFill>
            <a:prstDash val="solid"/>
          </a:ln>
        </p:spPr>
      </p:sp>
      <p:sp>
        <p:nvSpPr>
          <p:cNvPr id="21" name="Text 17"/>
          <p:cNvSpPr/>
          <p:nvPr/>
        </p:nvSpPr>
        <p:spPr>
          <a:xfrm>
            <a:off x="2696000" y="2108835"/>
            <a:ext cx="749808" cy="137160"/>
          </a:xfrm>
          <a:prstGeom prst="rect">
            <a:avLst/>
          </a:prstGeom>
          <a:noFill/>
          <a:ln/>
        </p:spPr>
        <p:txBody>
          <a:bodyPr wrap="square" lIns="0" tIns="0" rIns="0" bIns="0" rtlCol="0" anchor="ctr"/>
          <a:lstStyle/>
          <a:p>
            <a:pPr marL="0" indent="0">
              <a:buNone/>
            </a:pPr>
            <a:r>
              <a:rPr lang="en-US" sz="700" b="1" kern="0" spc="150" dirty="0">
                <a:solidFill>
                  <a:srgbClr val="7C3AED"/>
                </a:solidFill>
                <a:latin typeface="Calibri" pitchFamily="34" charset="0"/>
                <a:ea typeface="Calibri" pitchFamily="34" charset="-122"/>
                <a:cs typeface="Calibri" pitchFamily="34" charset="-120"/>
              </a:rPr>
              <a:t>EXAMPLE</a:t>
            </a:r>
            <a:endParaRPr lang="en-US" sz="700" dirty="0"/>
          </a:p>
        </p:txBody>
      </p:sp>
      <p:sp>
        <p:nvSpPr>
          <p:cNvPr id="22" name="Text 18"/>
          <p:cNvSpPr/>
          <p:nvPr/>
        </p:nvSpPr>
        <p:spPr>
          <a:xfrm>
            <a:off x="2704405" y="2255879"/>
            <a:ext cx="1664208" cy="420624"/>
          </a:xfrm>
          <a:prstGeom prst="rect">
            <a:avLst/>
          </a:prstGeom>
          <a:noFill/>
          <a:ln/>
        </p:spPr>
        <p:txBody>
          <a:bodyPr wrap="square" lIns="0" tIns="0" rIns="0" bIns="0" rtlCol="0" anchor="t"/>
          <a:lstStyle/>
          <a:p>
            <a:pPr marL="0" indent="0">
              <a:buNone/>
            </a:pPr>
            <a:r>
              <a:rPr lang="en-US" sz="850" i="1" dirty="0">
                <a:solidFill>
                  <a:srgbClr val="CBD5E1"/>
                </a:solidFill>
                <a:latin typeface="Calibri" pitchFamily="34" charset="0"/>
                <a:ea typeface="Calibri" pitchFamily="34" charset="-122"/>
                <a:cs typeface="Calibri" pitchFamily="34" charset="-120"/>
              </a:rPr>
              <a:t>"I need to extract key clauses from contracts. Generate the best prompt I should use to accomplish this."</a:t>
            </a:r>
            <a:endParaRPr lang="en-US" sz="850" dirty="0"/>
          </a:p>
        </p:txBody>
      </p:sp>
      <p:sp>
        <p:nvSpPr>
          <p:cNvPr id="23" name="Shape 19"/>
          <p:cNvSpPr/>
          <p:nvPr/>
        </p:nvSpPr>
        <p:spPr>
          <a:xfrm>
            <a:off x="4617720" y="1170432"/>
            <a:ext cx="2029968" cy="2633472"/>
          </a:xfrm>
          <a:prstGeom prst="rect">
            <a:avLst/>
          </a:prstGeom>
          <a:solidFill>
            <a:srgbClr val="1E293B"/>
          </a:solidFill>
          <a:ln w="9525">
            <a:solidFill>
              <a:srgbClr val="334155"/>
            </a:solidFill>
            <a:prstDash val="solid"/>
          </a:ln>
          <a:effectLst>
            <a:outerShdw blurRad="127000" dist="38100" dir="8100000" algn="bl" rotWithShape="0">
              <a:srgbClr val="000000">
                <a:alpha val="28000"/>
              </a:srgbClr>
            </a:outerShdw>
          </a:effectLst>
        </p:spPr>
      </p:sp>
      <p:sp>
        <p:nvSpPr>
          <p:cNvPr id="24" name="Shape 20"/>
          <p:cNvSpPr/>
          <p:nvPr/>
        </p:nvSpPr>
        <p:spPr>
          <a:xfrm>
            <a:off x="4617720" y="1170432"/>
            <a:ext cx="2029968" cy="64008"/>
          </a:xfrm>
          <a:prstGeom prst="rect">
            <a:avLst/>
          </a:prstGeom>
          <a:solidFill>
            <a:srgbClr val="4F46E5"/>
          </a:solidFill>
          <a:ln/>
        </p:spPr>
      </p:sp>
      <p:sp>
        <p:nvSpPr>
          <p:cNvPr id="25" name="Text 21"/>
          <p:cNvSpPr/>
          <p:nvPr/>
        </p:nvSpPr>
        <p:spPr>
          <a:xfrm>
            <a:off x="6172200" y="1252728"/>
            <a:ext cx="384048" cy="201168"/>
          </a:xfrm>
          <a:prstGeom prst="rect">
            <a:avLst/>
          </a:prstGeom>
          <a:noFill/>
          <a:ln/>
        </p:spPr>
        <p:txBody>
          <a:bodyPr wrap="square" lIns="0" tIns="0" rIns="0" bIns="0" rtlCol="0" anchor="ctr"/>
          <a:lstStyle/>
          <a:p>
            <a:pPr marL="0" indent="0" algn="r">
              <a:buNone/>
            </a:pPr>
            <a:r>
              <a:rPr lang="en-US" sz="1000" b="1" dirty="0">
                <a:solidFill>
                  <a:srgbClr val="4F46E5"/>
                </a:solidFill>
              </a:rPr>
              <a:t>15</a:t>
            </a:r>
            <a:endParaRPr lang="en-US" sz="1000" dirty="0"/>
          </a:p>
        </p:txBody>
      </p:sp>
      <p:pic>
        <p:nvPicPr>
          <p:cNvPr id="26" name="Image 2" descr="preencoded.png"/>
          <p:cNvPicPr>
            <a:picLocks noChangeAspect="1"/>
          </p:cNvPicPr>
          <p:nvPr/>
        </p:nvPicPr>
        <p:blipFill>
          <a:blip r:embed="rId5"/>
          <a:stretch>
            <a:fillRect/>
          </a:stretch>
        </p:blipFill>
        <p:spPr>
          <a:xfrm>
            <a:off x="4773168" y="1261872"/>
            <a:ext cx="310896" cy="310896"/>
          </a:xfrm>
          <a:prstGeom prst="rect">
            <a:avLst/>
          </a:prstGeom>
        </p:spPr>
      </p:pic>
      <p:sp>
        <p:nvSpPr>
          <p:cNvPr id="27" name="Text 22"/>
          <p:cNvSpPr/>
          <p:nvPr/>
        </p:nvSpPr>
        <p:spPr>
          <a:xfrm>
            <a:off x="4745736" y="1645920"/>
            <a:ext cx="1810512"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Structured Output</a:t>
            </a:r>
            <a:endParaRPr lang="en-US" sz="1150" dirty="0"/>
          </a:p>
        </p:txBody>
      </p:sp>
      <p:sp>
        <p:nvSpPr>
          <p:cNvPr id="29" name="Shape 24"/>
          <p:cNvSpPr/>
          <p:nvPr/>
        </p:nvSpPr>
        <p:spPr>
          <a:xfrm>
            <a:off x="4727448" y="2045567"/>
            <a:ext cx="1828800" cy="1685185"/>
          </a:xfrm>
          <a:prstGeom prst="rect">
            <a:avLst/>
          </a:prstGeom>
          <a:solidFill>
            <a:srgbClr val="0F172A"/>
          </a:solidFill>
          <a:ln w="6350">
            <a:solidFill>
              <a:srgbClr val="334155"/>
            </a:solidFill>
            <a:prstDash val="solid"/>
          </a:ln>
        </p:spPr>
      </p:sp>
      <p:sp>
        <p:nvSpPr>
          <p:cNvPr id="30" name="Text 25"/>
          <p:cNvSpPr/>
          <p:nvPr/>
        </p:nvSpPr>
        <p:spPr>
          <a:xfrm>
            <a:off x="4817408" y="2108835"/>
            <a:ext cx="749808" cy="137160"/>
          </a:xfrm>
          <a:prstGeom prst="rect">
            <a:avLst/>
          </a:prstGeom>
          <a:noFill/>
          <a:ln/>
        </p:spPr>
        <p:txBody>
          <a:bodyPr wrap="square" lIns="0" tIns="0" rIns="0" bIns="0" rtlCol="0" anchor="ctr"/>
          <a:lstStyle/>
          <a:p>
            <a:pPr marL="0" indent="0">
              <a:buNone/>
            </a:pPr>
            <a:r>
              <a:rPr lang="en-US" sz="700" b="1" kern="0" spc="150" dirty="0">
                <a:solidFill>
                  <a:srgbClr val="4F46E5"/>
                </a:solidFill>
                <a:latin typeface="Calibri" pitchFamily="34" charset="0"/>
                <a:ea typeface="Calibri" pitchFamily="34" charset="-122"/>
                <a:cs typeface="Calibri" pitchFamily="34" charset="-120"/>
              </a:rPr>
              <a:t>EXAMPLE</a:t>
            </a:r>
            <a:endParaRPr lang="en-US" sz="700" dirty="0"/>
          </a:p>
        </p:txBody>
      </p:sp>
      <p:sp>
        <p:nvSpPr>
          <p:cNvPr id="31" name="Text 26"/>
          <p:cNvSpPr/>
          <p:nvPr/>
        </p:nvSpPr>
        <p:spPr>
          <a:xfrm>
            <a:off x="4825813" y="2255879"/>
            <a:ext cx="1664208" cy="420624"/>
          </a:xfrm>
          <a:prstGeom prst="rect">
            <a:avLst/>
          </a:prstGeom>
          <a:noFill/>
          <a:ln/>
        </p:spPr>
        <p:txBody>
          <a:bodyPr wrap="square" lIns="0" tIns="0" rIns="0" bIns="0" rtlCol="0" anchor="t"/>
          <a:lstStyle/>
          <a:p>
            <a:pPr marL="0" indent="0">
              <a:buNone/>
            </a:pPr>
            <a:r>
              <a:rPr lang="en-US" sz="850" i="1" dirty="0">
                <a:solidFill>
                  <a:srgbClr val="CBD5E1"/>
                </a:solidFill>
                <a:latin typeface="Calibri" pitchFamily="34" charset="0"/>
                <a:ea typeface="Calibri" pitchFamily="34" charset="-122"/>
                <a:cs typeface="Calibri" pitchFamily="34" charset="-120"/>
              </a:rPr>
              <a:t>"Return ONLY valid JSON: { \"name\": string, \"priority\": 1-5, \"tags\": string[] }. No other text."</a:t>
            </a:r>
            <a:endParaRPr lang="en-US" sz="850" dirty="0"/>
          </a:p>
        </p:txBody>
      </p:sp>
      <p:sp>
        <p:nvSpPr>
          <p:cNvPr id="32" name="Shape 27"/>
          <p:cNvSpPr/>
          <p:nvPr/>
        </p:nvSpPr>
        <p:spPr>
          <a:xfrm>
            <a:off x="6739128" y="1170432"/>
            <a:ext cx="2029968" cy="2633472"/>
          </a:xfrm>
          <a:prstGeom prst="rect">
            <a:avLst/>
          </a:prstGeom>
          <a:solidFill>
            <a:srgbClr val="1E293B"/>
          </a:solidFill>
          <a:ln w="9525">
            <a:solidFill>
              <a:srgbClr val="334155"/>
            </a:solidFill>
            <a:prstDash val="solid"/>
          </a:ln>
          <a:effectLst>
            <a:outerShdw blurRad="127000" dist="38100" dir="8100000" algn="bl" rotWithShape="0">
              <a:srgbClr val="000000">
                <a:alpha val="28000"/>
              </a:srgbClr>
            </a:outerShdw>
          </a:effectLst>
        </p:spPr>
      </p:sp>
      <p:sp>
        <p:nvSpPr>
          <p:cNvPr id="33" name="Shape 28"/>
          <p:cNvSpPr/>
          <p:nvPr/>
        </p:nvSpPr>
        <p:spPr>
          <a:xfrm>
            <a:off x="6739128" y="1170432"/>
            <a:ext cx="2029968" cy="64008"/>
          </a:xfrm>
          <a:prstGeom prst="rect">
            <a:avLst/>
          </a:prstGeom>
          <a:solidFill>
            <a:srgbClr val="10B981"/>
          </a:solidFill>
          <a:ln/>
        </p:spPr>
      </p:sp>
      <p:sp>
        <p:nvSpPr>
          <p:cNvPr id="34" name="Text 29"/>
          <p:cNvSpPr/>
          <p:nvPr/>
        </p:nvSpPr>
        <p:spPr>
          <a:xfrm>
            <a:off x="8293608" y="1252728"/>
            <a:ext cx="384048" cy="201168"/>
          </a:xfrm>
          <a:prstGeom prst="rect">
            <a:avLst/>
          </a:prstGeom>
          <a:noFill/>
          <a:ln/>
        </p:spPr>
        <p:txBody>
          <a:bodyPr wrap="square" lIns="0" tIns="0" rIns="0" bIns="0" rtlCol="0" anchor="ctr"/>
          <a:lstStyle/>
          <a:p>
            <a:pPr marL="0" indent="0" algn="r">
              <a:buNone/>
            </a:pPr>
            <a:r>
              <a:rPr lang="en-US" sz="1000" b="1" dirty="0">
                <a:solidFill>
                  <a:srgbClr val="10B981"/>
                </a:solidFill>
              </a:rPr>
              <a:t>16</a:t>
            </a:r>
            <a:endParaRPr lang="en-US" sz="1000" dirty="0"/>
          </a:p>
        </p:txBody>
      </p:sp>
      <p:pic>
        <p:nvPicPr>
          <p:cNvPr id="35" name="Image 3" descr="preencoded.png"/>
          <p:cNvPicPr>
            <a:picLocks noChangeAspect="1"/>
          </p:cNvPicPr>
          <p:nvPr/>
        </p:nvPicPr>
        <p:blipFill>
          <a:blip r:embed="rId6"/>
          <a:stretch>
            <a:fillRect/>
          </a:stretch>
        </p:blipFill>
        <p:spPr>
          <a:xfrm>
            <a:off x="6894576" y="1261872"/>
            <a:ext cx="310896" cy="310896"/>
          </a:xfrm>
          <a:prstGeom prst="rect">
            <a:avLst/>
          </a:prstGeom>
        </p:spPr>
      </p:pic>
      <p:sp>
        <p:nvSpPr>
          <p:cNvPr id="36" name="Text 30"/>
          <p:cNvSpPr/>
          <p:nvPr/>
        </p:nvSpPr>
        <p:spPr>
          <a:xfrm>
            <a:off x="6867144" y="1645920"/>
            <a:ext cx="1810512"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Constitutional Prompting</a:t>
            </a:r>
            <a:endParaRPr lang="en-US" sz="1150" dirty="0"/>
          </a:p>
        </p:txBody>
      </p:sp>
      <p:sp>
        <p:nvSpPr>
          <p:cNvPr id="38" name="Shape 32"/>
          <p:cNvSpPr/>
          <p:nvPr/>
        </p:nvSpPr>
        <p:spPr>
          <a:xfrm>
            <a:off x="6848856" y="2045567"/>
            <a:ext cx="1828800" cy="1685185"/>
          </a:xfrm>
          <a:prstGeom prst="rect">
            <a:avLst/>
          </a:prstGeom>
          <a:solidFill>
            <a:srgbClr val="0F172A"/>
          </a:solidFill>
          <a:ln w="6350">
            <a:solidFill>
              <a:srgbClr val="334155"/>
            </a:solidFill>
            <a:prstDash val="solid"/>
          </a:ln>
        </p:spPr>
      </p:sp>
      <p:sp>
        <p:nvSpPr>
          <p:cNvPr id="39" name="Text 33"/>
          <p:cNvSpPr/>
          <p:nvPr/>
        </p:nvSpPr>
        <p:spPr>
          <a:xfrm>
            <a:off x="6938816" y="2108835"/>
            <a:ext cx="749808" cy="137160"/>
          </a:xfrm>
          <a:prstGeom prst="rect">
            <a:avLst/>
          </a:prstGeom>
          <a:noFill/>
          <a:ln/>
        </p:spPr>
        <p:txBody>
          <a:bodyPr wrap="square" lIns="0" tIns="0" rIns="0" bIns="0" rtlCol="0" anchor="ctr"/>
          <a:lstStyle/>
          <a:p>
            <a:pPr marL="0" indent="0">
              <a:buNone/>
            </a:pPr>
            <a:r>
              <a:rPr lang="en-US" sz="700" b="1" kern="0" spc="150" dirty="0">
                <a:solidFill>
                  <a:srgbClr val="10B981"/>
                </a:solidFill>
                <a:latin typeface="Calibri" pitchFamily="34" charset="0"/>
                <a:ea typeface="Calibri" pitchFamily="34" charset="-122"/>
                <a:cs typeface="Calibri" pitchFamily="34" charset="-120"/>
              </a:rPr>
              <a:t>EXAMPLE</a:t>
            </a:r>
            <a:endParaRPr lang="en-US" sz="700" dirty="0"/>
          </a:p>
        </p:txBody>
      </p:sp>
      <p:sp>
        <p:nvSpPr>
          <p:cNvPr id="40" name="Text 34"/>
          <p:cNvSpPr/>
          <p:nvPr/>
        </p:nvSpPr>
        <p:spPr>
          <a:xfrm>
            <a:off x="6947221" y="2255879"/>
            <a:ext cx="1664208" cy="420624"/>
          </a:xfrm>
          <a:prstGeom prst="rect">
            <a:avLst/>
          </a:prstGeom>
          <a:noFill/>
          <a:ln/>
        </p:spPr>
        <p:txBody>
          <a:bodyPr wrap="square" lIns="0" tIns="0" rIns="0" bIns="0" rtlCol="0" anchor="t"/>
          <a:lstStyle/>
          <a:p>
            <a:pPr marL="0" indent="0">
              <a:buNone/>
            </a:pPr>
            <a:r>
              <a:rPr lang="en-US" sz="850" i="1" dirty="0">
                <a:solidFill>
                  <a:srgbClr val="CBD5E1"/>
                </a:solidFill>
                <a:latin typeface="Calibri" pitchFamily="34" charset="0"/>
                <a:ea typeface="Calibri" pitchFamily="34" charset="-122"/>
                <a:cs typeface="Calibri" pitchFamily="34" charset="-120"/>
              </a:rPr>
              <a:t>"Rules: Never reveal pricing. Always recommend consulting a doctor. Never make promises. Now answer: [query]"</a:t>
            </a:r>
            <a:endParaRPr lang="en-US" sz="850" dirty="0"/>
          </a:p>
        </p:txBody>
      </p:sp>
      <p:sp>
        <p:nvSpPr>
          <p:cNvPr id="41" name="Text 35"/>
          <p:cNvSpPr/>
          <p:nvPr/>
        </p:nvSpPr>
        <p:spPr>
          <a:xfrm>
            <a:off x="457200" y="3931920"/>
            <a:ext cx="8229600" cy="219456"/>
          </a:xfrm>
          <a:prstGeom prst="rect">
            <a:avLst/>
          </a:prstGeom>
          <a:noFill/>
          <a:ln/>
        </p:spPr>
        <p:txBody>
          <a:bodyPr wrap="square" lIns="0" tIns="0" rIns="0" bIns="0" rtlCol="0" anchor="ctr"/>
          <a:lstStyle/>
          <a:p>
            <a:pPr marL="0" indent="0" algn="ctr">
              <a:buNone/>
            </a:pPr>
            <a:r>
              <a:rPr lang="en-US" sz="850" b="1" kern="0" spc="300" dirty="0">
                <a:solidFill>
                  <a:srgbClr val="0EA5E9"/>
                </a:solidFill>
                <a:latin typeface="Calibri" pitchFamily="34" charset="0"/>
                <a:ea typeface="Calibri" pitchFamily="34" charset="-122"/>
                <a:cs typeface="Calibri" pitchFamily="34" charset="-120"/>
              </a:rPr>
              <a:t>THE PROMPTING MATURITY LADDER</a:t>
            </a:r>
            <a:endParaRPr lang="en-US" sz="850" dirty="0"/>
          </a:p>
        </p:txBody>
      </p:sp>
      <p:sp>
        <p:nvSpPr>
          <p:cNvPr id="42" name="Shape 36"/>
          <p:cNvSpPr/>
          <p:nvPr/>
        </p:nvSpPr>
        <p:spPr>
          <a:xfrm>
            <a:off x="731520" y="4206240"/>
            <a:ext cx="1463040" cy="621792"/>
          </a:xfrm>
          <a:prstGeom prst="rect">
            <a:avLst/>
          </a:prstGeom>
          <a:solidFill>
            <a:srgbClr val="0EA5E9">
              <a:alpha val="80000"/>
            </a:srgbClr>
          </a:solidFill>
          <a:ln w="12700">
            <a:solidFill>
              <a:srgbClr val="0EA5E9"/>
            </a:solidFill>
            <a:prstDash val="solid"/>
          </a:ln>
        </p:spPr>
      </p:sp>
      <p:sp>
        <p:nvSpPr>
          <p:cNvPr id="43" name="Text 37"/>
          <p:cNvSpPr/>
          <p:nvPr/>
        </p:nvSpPr>
        <p:spPr>
          <a:xfrm>
            <a:off x="731520" y="4206240"/>
            <a:ext cx="14630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Zero-Shot</a:t>
            </a:r>
            <a:endParaRPr lang="en-US" sz="1050" dirty="0"/>
          </a:p>
        </p:txBody>
      </p:sp>
      <p:sp>
        <p:nvSpPr>
          <p:cNvPr id="44" name="Shape 38"/>
          <p:cNvSpPr/>
          <p:nvPr/>
        </p:nvSpPr>
        <p:spPr>
          <a:xfrm>
            <a:off x="2286000" y="4206240"/>
            <a:ext cx="1463040" cy="621792"/>
          </a:xfrm>
          <a:prstGeom prst="rect">
            <a:avLst/>
          </a:prstGeom>
          <a:solidFill>
            <a:srgbClr val="7C3AED">
              <a:alpha val="80000"/>
            </a:srgbClr>
          </a:solidFill>
          <a:ln w="12700">
            <a:solidFill>
              <a:srgbClr val="7C3AED"/>
            </a:solidFill>
            <a:prstDash val="solid"/>
          </a:ln>
        </p:spPr>
      </p:sp>
      <p:sp>
        <p:nvSpPr>
          <p:cNvPr id="45" name="Text 39"/>
          <p:cNvSpPr/>
          <p:nvPr/>
        </p:nvSpPr>
        <p:spPr>
          <a:xfrm>
            <a:off x="2286000" y="4206240"/>
            <a:ext cx="14630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Example-Based</a:t>
            </a:r>
            <a:endParaRPr lang="en-US" sz="1050" dirty="0"/>
          </a:p>
        </p:txBody>
      </p:sp>
      <p:sp>
        <p:nvSpPr>
          <p:cNvPr id="46" name="Shape 40"/>
          <p:cNvSpPr/>
          <p:nvPr/>
        </p:nvSpPr>
        <p:spPr>
          <a:xfrm>
            <a:off x="3840480" y="4206240"/>
            <a:ext cx="1463040" cy="621792"/>
          </a:xfrm>
          <a:prstGeom prst="rect">
            <a:avLst/>
          </a:prstGeom>
          <a:solidFill>
            <a:srgbClr val="4F46E5">
              <a:alpha val="80000"/>
            </a:srgbClr>
          </a:solidFill>
          <a:ln w="12700">
            <a:solidFill>
              <a:srgbClr val="4F46E5"/>
            </a:solidFill>
            <a:prstDash val="solid"/>
          </a:ln>
        </p:spPr>
      </p:sp>
      <p:sp>
        <p:nvSpPr>
          <p:cNvPr id="47" name="Text 41"/>
          <p:cNvSpPr/>
          <p:nvPr/>
        </p:nvSpPr>
        <p:spPr>
          <a:xfrm>
            <a:off x="3840480" y="4206240"/>
            <a:ext cx="14630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Reasoning</a:t>
            </a:r>
            <a:endParaRPr lang="en-US" sz="1050" dirty="0"/>
          </a:p>
        </p:txBody>
      </p:sp>
      <p:sp>
        <p:nvSpPr>
          <p:cNvPr id="48" name="Shape 42"/>
          <p:cNvSpPr/>
          <p:nvPr/>
        </p:nvSpPr>
        <p:spPr>
          <a:xfrm>
            <a:off x="5394960" y="4206240"/>
            <a:ext cx="1463040" cy="621792"/>
          </a:xfrm>
          <a:prstGeom prst="rect">
            <a:avLst/>
          </a:prstGeom>
          <a:solidFill>
            <a:srgbClr val="F59E0B">
              <a:alpha val="80000"/>
            </a:srgbClr>
          </a:solidFill>
          <a:ln w="12700">
            <a:solidFill>
              <a:srgbClr val="F59E0B"/>
            </a:solidFill>
            <a:prstDash val="solid"/>
          </a:ln>
        </p:spPr>
      </p:sp>
      <p:sp>
        <p:nvSpPr>
          <p:cNvPr id="49" name="Text 43"/>
          <p:cNvSpPr/>
          <p:nvPr/>
        </p:nvSpPr>
        <p:spPr>
          <a:xfrm>
            <a:off x="5394960" y="4206240"/>
            <a:ext cx="14630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Evaluation</a:t>
            </a:r>
            <a:endParaRPr lang="en-US" sz="1050" dirty="0"/>
          </a:p>
        </p:txBody>
      </p:sp>
      <p:sp>
        <p:nvSpPr>
          <p:cNvPr id="50" name="Shape 44"/>
          <p:cNvSpPr/>
          <p:nvPr/>
        </p:nvSpPr>
        <p:spPr>
          <a:xfrm>
            <a:off x="6949440" y="4206240"/>
            <a:ext cx="1463040" cy="621792"/>
          </a:xfrm>
          <a:prstGeom prst="rect">
            <a:avLst/>
          </a:prstGeom>
          <a:solidFill>
            <a:srgbClr val="10B981">
              <a:alpha val="80000"/>
            </a:srgbClr>
          </a:solidFill>
          <a:ln w="12700">
            <a:solidFill>
              <a:srgbClr val="10B981"/>
            </a:solidFill>
            <a:prstDash val="solid"/>
          </a:ln>
        </p:spPr>
      </p:sp>
      <p:sp>
        <p:nvSpPr>
          <p:cNvPr id="51" name="Text 45"/>
          <p:cNvSpPr/>
          <p:nvPr/>
        </p:nvSpPr>
        <p:spPr>
          <a:xfrm>
            <a:off x="6949440" y="4206240"/>
            <a:ext cx="14630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Agentic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AI Effectively: Prompting Basics</dc:title>
  <dc:subject>PptxGenJS Presentation</dc:subject>
  <dc:creator>PptxGenJS</dc:creator>
  <cp:lastModifiedBy>Viraj Raina</cp:lastModifiedBy>
  <cp:revision>107</cp:revision>
  <dcterms:created xsi:type="dcterms:W3CDTF">2026-05-07T11:29:12Z</dcterms:created>
  <dcterms:modified xsi:type="dcterms:W3CDTF">2026-05-07T16:51:44Z</dcterms:modified>
</cp:coreProperties>
</file>